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 Bold" charset="1" panose="00000800000000000000"/>
      <p:regular r:id="rId16"/>
    </p:embeddedFont>
    <p:embeddedFont>
      <p:font typeface="Open Sans" charset="1" panose="00000000000000000000"/>
      <p:regular r:id="rId17"/>
    </p:embeddedFont>
    <p:embeddedFont>
      <p:font typeface="Mont" charset="1" panose="00000500000000000000"/>
      <p:regular r:id="rId18"/>
    </p:embeddedFont>
    <p:embeddedFont>
      <p:font typeface="DM Serif Display" charset="1" panose="00000000000000000000"/>
      <p:regular r:id="rId19"/>
    </p:embeddedFont>
    <p:embeddedFont>
      <p:font typeface="Open Sans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jpeg" Type="http://schemas.openxmlformats.org/officeDocument/2006/relationships/image"/><Relationship Id="rId7" Target="../media/image17.jpe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2" Target="../media/image1.jpe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jpe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embeddings/oleObject2.bin" Type="http://schemas.openxmlformats.org/officeDocument/2006/relationships/oleObjec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https://colab.research.google.com/drive/1aKw-rjSzAXx-3LsorL_yWXy27I5v0loK?usp=sharing" TargetMode="External" Type="http://schemas.openxmlformats.org/officeDocument/2006/relationships/hyperlink"/><Relationship Id="rId12" Target="../media/image56.png" Type="http://schemas.openxmlformats.org/officeDocument/2006/relationships/image"/><Relationship Id="rId13" Target="../media/image57.png" Type="http://schemas.openxmlformats.org/officeDocument/2006/relationships/image"/><Relationship Id="rId14" Target="../embeddings/oleObject3.bin" Type="http://schemas.openxmlformats.org/officeDocument/2006/relationships/oleObject"/><Relationship Id="rId2" Target="../media/image1.jpe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jpe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2" Target="../media/image1.jpeg" Type="http://schemas.openxmlformats.org/officeDocument/2006/relationships/image"/><Relationship Id="rId3" Target="../media/image58.jpe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4.jpe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15" Target="../media/image45.png" Type="http://schemas.openxmlformats.org/officeDocument/2006/relationships/image"/><Relationship Id="rId16" Target="../media/image46.svg" Type="http://schemas.openxmlformats.org/officeDocument/2006/relationships/image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22.png" Type="http://schemas.openxmlformats.org/officeDocument/2006/relationships/image"/><Relationship Id="rId5" Target="../media/image69.svg" Type="http://schemas.openxmlformats.org/officeDocument/2006/relationships/image"/><Relationship Id="rId6" Target="../media/image70.svg" Type="http://schemas.openxmlformats.org/officeDocument/2006/relationships/image"/><Relationship Id="rId7" Target="../media/image71.svg" Type="http://schemas.openxmlformats.org/officeDocument/2006/relationships/image"/><Relationship Id="rId8" Target="../media/image72.jpeg" Type="http://schemas.openxmlformats.org/officeDocument/2006/relationships/image"/><Relationship Id="rId9" Target="../media/image7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75.jpeg" Type="http://schemas.openxmlformats.org/officeDocument/2006/relationships/image"/><Relationship Id="rId6" Target="../media/image7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81973">
            <a:off x="3308646" y="4704850"/>
            <a:ext cx="3473115" cy="3429701"/>
          </a:xfrm>
          <a:custGeom>
            <a:avLst/>
            <a:gdLst/>
            <a:ahLst/>
            <a:cxnLst/>
            <a:rect r="r" b="b" t="t" l="l"/>
            <a:pathLst>
              <a:path h="3429701" w="3473115">
                <a:moveTo>
                  <a:pt x="0" y="0"/>
                </a:moveTo>
                <a:lnTo>
                  <a:pt x="3473115" y="0"/>
                </a:lnTo>
                <a:lnTo>
                  <a:pt x="3473115" y="3429702"/>
                </a:lnTo>
                <a:lnTo>
                  <a:pt x="0" y="34297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2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2700000">
            <a:off x="-716505" y="7417116"/>
            <a:ext cx="6938951" cy="693916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53555"/>
                  </a:moveTo>
                  <a:lnTo>
                    <a:pt x="812800" y="759245"/>
                  </a:lnTo>
                  <a:cubicBezTo>
                    <a:pt x="812800" y="773449"/>
                    <a:pt x="807158" y="787071"/>
                    <a:pt x="797114" y="797114"/>
                  </a:cubicBezTo>
                  <a:cubicBezTo>
                    <a:pt x="787071" y="807158"/>
                    <a:pt x="773449" y="812800"/>
                    <a:pt x="759245" y="812800"/>
                  </a:cubicBezTo>
                  <a:lnTo>
                    <a:pt x="53555" y="812800"/>
                  </a:lnTo>
                  <a:cubicBezTo>
                    <a:pt x="39351" y="812800"/>
                    <a:pt x="25729" y="807158"/>
                    <a:pt x="15686" y="797114"/>
                  </a:cubicBezTo>
                  <a:cubicBezTo>
                    <a:pt x="5642" y="787071"/>
                    <a:pt x="0" y="773449"/>
                    <a:pt x="0" y="759245"/>
                  </a:cubicBezTo>
                  <a:lnTo>
                    <a:pt x="0" y="53555"/>
                  </a:lnTo>
                  <a:cubicBezTo>
                    <a:pt x="0" y="39351"/>
                    <a:pt x="5642" y="25729"/>
                    <a:pt x="15686" y="15686"/>
                  </a:cubicBezTo>
                  <a:cubicBezTo>
                    <a:pt x="25729" y="5642"/>
                    <a:pt x="39351" y="0"/>
                    <a:pt x="53555" y="0"/>
                  </a:cubicBezTo>
                  <a:lnTo>
                    <a:pt x="759245" y="0"/>
                  </a:lnTo>
                  <a:cubicBezTo>
                    <a:pt x="773449" y="0"/>
                    <a:pt x="787071" y="5642"/>
                    <a:pt x="797114" y="15686"/>
                  </a:cubicBezTo>
                  <a:cubicBezTo>
                    <a:pt x="807158" y="25729"/>
                    <a:pt x="812800" y="39351"/>
                    <a:pt x="812800" y="53555"/>
                  </a:cubicBezTo>
                  <a:close/>
                </a:path>
              </a:pathLst>
            </a:custGeom>
            <a:solidFill>
              <a:srgbClr val="2C323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1955549" y="-3118149"/>
            <a:ext cx="4955444" cy="5605192"/>
            <a:chOff x="0" y="0"/>
            <a:chExt cx="631588" cy="7143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1588" cy="714378"/>
            </a:xfrm>
            <a:custGeom>
              <a:avLst/>
              <a:gdLst/>
              <a:ahLst/>
              <a:cxnLst/>
              <a:rect r="r" b="b" t="t" l="l"/>
              <a:pathLst>
                <a:path h="714378" w="631588">
                  <a:moveTo>
                    <a:pt x="631588" y="74991"/>
                  </a:moveTo>
                  <a:lnTo>
                    <a:pt x="631588" y="639388"/>
                  </a:lnTo>
                  <a:cubicBezTo>
                    <a:pt x="631588" y="659277"/>
                    <a:pt x="623687" y="678351"/>
                    <a:pt x="609624" y="692414"/>
                  </a:cubicBezTo>
                  <a:cubicBezTo>
                    <a:pt x="595560" y="706478"/>
                    <a:pt x="576486" y="714378"/>
                    <a:pt x="556597" y="714378"/>
                  </a:cubicBezTo>
                  <a:lnTo>
                    <a:pt x="74991" y="714378"/>
                  </a:lnTo>
                  <a:cubicBezTo>
                    <a:pt x="33574" y="714378"/>
                    <a:pt x="0" y="680804"/>
                    <a:pt x="0" y="639388"/>
                  </a:cubicBezTo>
                  <a:lnTo>
                    <a:pt x="0" y="74991"/>
                  </a:lnTo>
                  <a:cubicBezTo>
                    <a:pt x="0" y="33574"/>
                    <a:pt x="33574" y="0"/>
                    <a:pt x="74991" y="0"/>
                  </a:cubicBezTo>
                  <a:lnTo>
                    <a:pt x="556597" y="0"/>
                  </a:lnTo>
                  <a:cubicBezTo>
                    <a:pt x="598014" y="0"/>
                    <a:pt x="631588" y="33574"/>
                    <a:pt x="631588" y="74991"/>
                  </a:cubicBezTo>
                  <a:close/>
                </a:path>
              </a:pathLst>
            </a:custGeom>
            <a:solidFill>
              <a:srgbClr val="3C728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631588" cy="790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930880" y="3684896"/>
            <a:ext cx="4214718" cy="421471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4348" y="24348"/>
              <a:ext cx="764105" cy="764105"/>
            </a:xfrm>
            <a:custGeom>
              <a:avLst/>
              <a:gdLst/>
              <a:ahLst/>
              <a:cxnLst/>
              <a:rect r="r" b="b" t="t" l="l"/>
              <a:pathLst>
                <a:path h="764105" w="764105">
                  <a:moveTo>
                    <a:pt x="423616" y="17216"/>
                  </a:moveTo>
                  <a:lnTo>
                    <a:pt x="746888" y="340488"/>
                  </a:lnTo>
                  <a:cubicBezTo>
                    <a:pt x="769843" y="363443"/>
                    <a:pt x="769843" y="400661"/>
                    <a:pt x="746888" y="423616"/>
                  </a:cubicBezTo>
                  <a:lnTo>
                    <a:pt x="423616" y="746888"/>
                  </a:lnTo>
                  <a:cubicBezTo>
                    <a:pt x="400661" y="769843"/>
                    <a:pt x="363443" y="769843"/>
                    <a:pt x="340488" y="746888"/>
                  </a:cubicBezTo>
                  <a:lnTo>
                    <a:pt x="17216" y="423616"/>
                  </a:lnTo>
                  <a:cubicBezTo>
                    <a:pt x="-5739" y="400661"/>
                    <a:pt x="-5739" y="363443"/>
                    <a:pt x="17216" y="340488"/>
                  </a:cubicBezTo>
                  <a:lnTo>
                    <a:pt x="340488" y="17216"/>
                  </a:lnTo>
                  <a:cubicBezTo>
                    <a:pt x="363443" y="-5739"/>
                    <a:pt x="400661" y="-5739"/>
                    <a:pt x="423616" y="17216"/>
                  </a:cubicBezTo>
                  <a:close/>
                </a:path>
              </a:pathLst>
            </a:custGeom>
            <a:blipFill>
              <a:blip r:embed="rId4"/>
              <a:stretch>
                <a:fillRect l="-24906" t="0" r="-24906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2816982" y="7650714"/>
            <a:ext cx="7719427" cy="4969381"/>
          </a:xfrm>
          <a:custGeom>
            <a:avLst/>
            <a:gdLst/>
            <a:ahLst/>
            <a:cxnLst/>
            <a:rect r="r" b="b" t="t" l="l"/>
            <a:pathLst>
              <a:path h="4969381" w="7719427">
                <a:moveTo>
                  <a:pt x="0" y="0"/>
                </a:moveTo>
                <a:lnTo>
                  <a:pt x="7719426" y="0"/>
                </a:lnTo>
                <a:lnTo>
                  <a:pt x="7719426" y="4969381"/>
                </a:lnTo>
                <a:lnTo>
                  <a:pt x="0" y="4969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2000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895859" y="7799171"/>
            <a:ext cx="5624690" cy="1944084"/>
            <a:chOff x="0" y="0"/>
            <a:chExt cx="1481400" cy="5120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1400" cy="512022"/>
            </a:xfrm>
            <a:custGeom>
              <a:avLst/>
              <a:gdLst/>
              <a:ahLst/>
              <a:cxnLst/>
              <a:rect r="r" b="b" t="t" l="l"/>
              <a:pathLst>
                <a:path h="512022" w="1481400">
                  <a:moveTo>
                    <a:pt x="88091" y="0"/>
                  </a:moveTo>
                  <a:lnTo>
                    <a:pt x="1393309" y="0"/>
                  </a:lnTo>
                  <a:cubicBezTo>
                    <a:pt x="1441960" y="0"/>
                    <a:pt x="1481400" y="39440"/>
                    <a:pt x="1481400" y="88091"/>
                  </a:cubicBezTo>
                  <a:lnTo>
                    <a:pt x="1481400" y="423931"/>
                  </a:lnTo>
                  <a:cubicBezTo>
                    <a:pt x="1481400" y="472583"/>
                    <a:pt x="1441960" y="512022"/>
                    <a:pt x="1393309" y="512022"/>
                  </a:cubicBezTo>
                  <a:lnTo>
                    <a:pt x="88091" y="512022"/>
                  </a:lnTo>
                  <a:cubicBezTo>
                    <a:pt x="39440" y="512022"/>
                    <a:pt x="0" y="472583"/>
                    <a:pt x="0" y="423931"/>
                  </a:cubicBezTo>
                  <a:lnTo>
                    <a:pt x="0" y="88091"/>
                  </a:lnTo>
                  <a:cubicBezTo>
                    <a:pt x="0" y="39440"/>
                    <a:pt x="39440" y="0"/>
                    <a:pt x="88091" y="0"/>
                  </a:cubicBezTo>
                  <a:close/>
                </a:path>
              </a:pathLst>
            </a:custGeom>
            <a:ln w="19050" cap="rnd">
              <a:solidFill>
                <a:srgbClr val="2C323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81400" cy="550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72310" y="7574395"/>
            <a:ext cx="2979155" cy="674302"/>
            <a:chOff x="0" y="0"/>
            <a:chExt cx="784634" cy="1775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84634" cy="177594"/>
            </a:xfrm>
            <a:custGeom>
              <a:avLst/>
              <a:gdLst/>
              <a:ahLst/>
              <a:cxnLst/>
              <a:rect r="r" b="b" t="t" l="l"/>
              <a:pathLst>
                <a:path h="177594" w="784634">
                  <a:moveTo>
                    <a:pt x="88797" y="0"/>
                  </a:moveTo>
                  <a:lnTo>
                    <a:pt x="695836" y="0"/>
                  </a:lnTo>
                  <a:cubicBezTo>
                    <a:pt x="719387" y="0"/>
                    <a:pt x="741973" y="9355"/>
                    <a:pt x="758625" y="26008"/>
                  </a:cubicBezTo>
                  <a:cubicBezTo>
                    <a:pt x="775278" y="42661"/>
                    <a:pt x="784634" y="65247"/>
                    <a:pt x="784634" y="88797"/>
                  </a:cubicBezTo>
                  <a:lnTo>
                    <a:pt x="784634" y="88797"/>
                  </a:lnTo>
                  <a:cubicBezTo>
                    <a:pt x="784634" y="137838"/>
                    <a:pt x="744878" y="177594"/>
                    <a:pt x="695836" y="177594"/>
                  </a:cubicBezTo>
                  <a:lnTo>
                    <a:pt x="88797" y="177594"/>
                  </a:lnTo>
                  <a:cubicBezTo>
                    <a:pt x="39756" y="177594"/>
                    <a:pt x="0" y="137838"/>
                    <a:pt x="0" y="88797"/>
                  </a:cubicBezTo>
                  <a:lnTo>
                    <a:pt x="0" y="88797"/>
                  </a:lnTo>
                  <a:cubicBezTo>
                    <a:pt x="0" y="39756"/>
                    <a:pt x="39756" y="0"/>
                    <a:pt x="88797" y="0"/>
                  </a:cubicBezTo>
                  <a:close/>
                </a:path>
              </a:pathLst>
            </a:custGeom>
            <a:solidFill>
              <a:srgbClr val="3C728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784634" cy="21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26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2700000">
            <a:off x="14765879" y="-297921"/>
            <a:ext cx="5121774" cy="3579059"/>
          </a:xfrm>
          <a:custGeom>
            <a:avLst/>
            <a:gdLst/>
            <a:ahLst/>
            <a:cxnLst/>
            <a:rect r="r" b="b" t="t" l="l"/>
            <a:pathLst>
              <a:path h="3579059" w="5121774">
                <a:moveTo>
                  <a:pt x="0" y="0"/>
                </a:moveTo>
                <a:lnTo>
                  <a:pt x="5121774" y="0"/>
                </a:lnTo>
                <a:lnTo>
                  <a:pt x="5121774" y="3579059"/>
                </a:lnTo>
                <a:lnTo>
                  <a:pt x="0" y="3579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57570" r="-4603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2700000">
            <a:off x="17046978" y="3616778"/>
            <a:ext cx="787867" cy="787867"/>
          </a:xfrm>
          <a:custGeom>
            <a:avLst/>
            <a:gdLst/>
            <a:ahLst/>
            <a:cxnLst/>
            <a:rect r="r" b="b" t="t" l="l"/>
            <a:pathLst>
              <a:path h="787867" w="787867">
                <a:moveTo>
                  <a:pt x="0" y="0"/>
                </a:moveTo>
                <a:lnTo>
                  <a:pt x="787867" y="0"/>
                </a:lnTo>
                <a:lnTo>
                  <a:pt x="787867" y="787867"/>
                </a:lnTo>
                <a:lnTo>
                  <a:pt x="0" y="7878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0" y="0"/>
            <a:ext cx="5686396" cy="7650714"/>
            <a:chOff x="0" y="0"/>
            <a:chExt cx="6456845" cy="86873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56839" cy="8687308"/>
            </a:xfrm>
            <a:custGeom>
              <a:avLst/>
              <a:gdLst/>
              <a:ahLst/>
              <a:cxnLst/>
              <a:rect r="r" b="b" t="t" l="l"/>
              <a:pathLst>
                <a:path h="8687308" w="6456839">
                  <a:moveTo>
                    <a:pt x="0" y="0"/>
                  </a:moveTo>
                  <a:lnTo>
                    <a:pt x="0" y="8248650"/>
                  </a:lnTo>
                  <a:lnTo>
                    <a:pt x="289941" y="8538591"/>
                  </a:lnTo>
                  <a:cubicBezTo>
                    <a:pt x="388620" y="8637270"/>
                    <a:pt x="517779" y="8686800"/>
                    <a:pt x="647065" y="8687308"/>
                  </a:cubicBezTo>
                  <a:lnTo>
                    <a:pt x="651256" y="8687308"/>
                  </a:lnTo>
                  <a:cubicBezTo>
                    <a:pt x="780542" y="8686800"/>
                    <a:pt x="909701" y="8637143"/>
                    <a:pt x="1008380" y="8538591"/>
                  </a:cubicBezTo>
                  <a:lnTo>
                    <a:pt x="6307963" y="3238754"/>
                  </a:lnTo>
                  <a:cubicBezTo>
                    <a:pt x="6506464" y="3040507"/>
                    <a:pt x="6506464" y="2718689"/>
                    <a:pt x="6307963" y="2520442"/>
                  </a:cubicBezTo>
                  <a:lnTo>
                    <a:pt x="3787775" y="0"/>
                  </a:lnTo>
                  <a:close/>
                </a:path>
              </a:pathLst>
            </a:custGeom>
            <a:blipFill>
              <a:blip r:embed="rId10"/>
              <a:stretch>
                <a:fillRect l="-50782" t="0" r="-50782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6753098" y="9515898"/>
            <a:ext cx="1534902" cy="454715"/>
          </a:xfrm>
          <a:custGeom>
            <a:avLst/>
            <a:gdLst/>
            <a:ahLst/>
            <a:cxnLst/>
            <a:rect r="r" b="b" t="t" l="l"/>
            <a:pathLst>
              <a:path h="454715" w="1534902">
                <a:moveTo>
                  <a:pt x="0" y="0"/>
                </a:moveTo>
                <a:lnTo>
                  <a:pt x="1534902" y="0"/>
                </a:lnTo>
                <a:lnTo>
                  <a:pt x="1534902" y="454715"/>
                </a:lnTo>
                <a:lnTo>
                  <a:pt x="0" y="45471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3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471820" y="2095480"/>
            <a:ext cx="7527190" cy="191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4"/>
              </a:lnSpc>
            </a:pPr>
            <a:r>
              <a:rPr lang="en-US" b="true" sz="6494" spc="-259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PEMBELAJARAN MESIN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73712" y="4239559"/>
            <a:ext cx="7425298" cy="2635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2822" spc="-28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Deteksi Promosi Judi Online pada Komentar YouTube Berbahasa Indonesia Menggunakan Support Vector Machine dan Multilayer Perceptron dengan Normalisasi Character Obfuscation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850626" y="7673421"/>
            <a:ext cx="277492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spc="-20">
                <a:solidFill>
                  <a:srgbClr val="FAFBFF"/>
                </a:solidFill>
                <a:latin typeface="Open Sans"/>
                <a:ea typeface="Open Sans"/>
                <a:cs typeface="Open Sans"/>
                <a:sym typeface="Open Sans"/>
              </a:rPr>
              <a:t>Dipresentasikan oleh: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62950" y="8346469"/>
            <a:ext cx="5074341" cy="132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7" indent="-215904" lvl="1">
              <a:lnSpc>
                <a:spcPts val="2000"/>
              </a:lnSpc>
              <a:buAutoNum type="arabicPeriod" startAt="1"/>
            </a:pPr>
            <a:r>
              <a:rPr lang="en-US" sz="2000" spc="-80">
                <a:solidFill>
                  <a:srgbClr val="000000"/>
                </a:solidFill>
                <a:latin typeface="Mont"/>
                <a:ea typeface="Mont"/>
                <a:cs typeface="Mont"/>
                <a:sym typeface="Mont"/>
              </a:rPr>
              <a:t>Nadine Putri Aulia (24031554094)</a:t>
            </a:r>
          </a:p>
          <a:p>
            <a:pPr algn="l" marL="431807" indent="-215904" lvl="1">
              <a:lnSpc>
                <a:spcPts val="2000"/>
              </a:lnSpc>
              <a:buAutoNum type="arabicPeriod" startAt="1"/>
            </a:pPr>
            <a:r>
              <a:rPr lang="en-US" sz="2000" spc="-80">
                <a:solidFill>
                  <a:srgbClr val="000000"/>
                </a:solidFill>
                <a:latin typeface="Mont"/>
                <a:ea typeface="Mont"/>
                <a:cs typeface="Mont"/>
                <a:sym typeface="Mont"/>
              </a:rPr>
              <a:t>Umi Imroatus Sholekhah (24031554150)</a:t>
            </a:r>
          </a:p>
          <a:p>
            <a:pPr algn="l" marL="431807" indent="-215904" lvl="1">
              <a:lnSpc>
                <a:spcPts val="2000"/>
              </a:lnSpc>
              <a:buAutoNum type="arabicPeriod" startAt="1"/>
            </a:pPr>
            <a:r>
              <a:rPr lang="en-US" sz="2000" spc="-80">
                <a:solidFill>
                  <a:srgbClr val="000000"/>
                </a:solidFill>
                <a:latin typeface="Mont"/>
                <a:ea typeface="Mont"/>
                <a:cs typeface="Mont"/>
                <a:sym typeface="Mont"/>
              </a:rPr>
              <a:t>Satya Apta Mahardika (24031554024)</a:t>
            </a:r>
          </a:p>
          <a:p>
            <a:pPr algn="l" marL="431807" indent="-215904" lvl="1">
              <a:lnSpc>
                <a:spcPts val="2000"/>
              </a:lnSpc>
              <a:buAutoNum type="arabicPeriod" startAt="1"/>
            </a:pPr>
            <a:r>
              <a:rPr lang="en-US" sz="2000" spc="-80">
                <a:solidFill>
                  <a:srgbClr val="000000"/>
                </a:solidFill>
                <a:latin typeface="Mont"/>
                <a:ea typeface="Mont"/>
                <a:cs typeface="Mont"/>
                <a:sym typeface="Mont"/>
              </a:rPr>
              <a:t>Fawazul Ammar (24031554136)</a:t>
            </a:r>
          </a:p>
          <a:p>
            <a:pPr algn="l">
              <a:lnSpc>
                <a:spcPts val="2000"/>
              </a:lnSpc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130541" y="7530248"/>
            <a:ext cx="950119" cy="1029296"/>
          </a:xfrm>
          <a:custGeom>
            <a:avLst/>
            <a:gdLst/>
            <a:ahLst/>
            <a:cxnLst/>
            <a:rect r="r" b="b" t="t" l="l"/>
            <a:pathLst>
              <a:path h="1029296" w="950119">
                <a:moveTo>
                  <a:pt x="0" y="0"/>
                </a:moveTo>
                <a:lnTo>
                  <a:pt x="950119" y="0"/>
                </a:lnTo>
                <a:lnTo>
                  <a:pt x="950119" y="1029295"/>
                </a:lnTo>
                <a:lnTo>
                  <a:pt x="0" y="10292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50685" y="8818838"/>
            <a:ext cx="3404571" cy="76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1"/>
              </a:lnSpc>
            </a:pPr>
            <a:r>
              <a:rPr lang="en-US" sz="2981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UNIVERSITAS NEGERI SURABAYA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52689" y="-1889828"/>
            <a:ext cx="6984962" cy="5360959"/>
          </a:xfrm>
          <a:custGeom>
            <a:avLst/>
            <a:gdLst/>
            <a:ahLst/>
            <a:cxnLst/>
            <a:rect r="r" b="b" t="t" l="l"/>
            <a:pathLst>
              <a:path h="5360959" w="6984962">
                <a:moveTo>
                  <a:pt x="0" y="0"/>
                </a:moveTo>
                <a:lnTo>
                  <a:pt x="6984963" y="0"/>
                </a:lnTo>
                <a:lnTo>
                  <a:pt x="6984963" y="5360959"/>
                </a:lnTo>
                <a:lnTo>
                  <a:pt x="0" y="53609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700000">
            <a:off x="-296991" y="8146633"/>
            <a:ext cx="2176603" cy="2907547"/>
          </a:xfrm>
          <a:custGeom>
            <a:avLst/>
            <a:gdLst/>
            <a:ahLst/>
            <a:cxnLst/>
            <a:rect r="r" b="b" t="t" l="l"/>
            <a:pathLst>
              <a:path h="2907547" w="2176603">
                <a:moveTo>
                  <a:pt x="0" y="0"/>
                </a:moveTo>
                <a:lnTo>
                  <a:pt x="2176603" y="0"/>
                </a:lnTo>
                <a:lnTo>
                  <a:pt x="2176603" y="2907548"/>
                </a:lnTo>
                <a:lnTo>
                  <a:pt x="0" y="2907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3581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3127180" y="4151454"/>
            <a:ext cx="3937084" cy="393708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9097" y="39097"/>
              <a:ext cx="734607" cy="734607"/>
            </a:xfrm>
            <a:custGeom>
              <a:avLst/>
              <a:gdLst/>
              <a:ahLst/>
              <a:cxnLst/>
              <a:rect r="r" b="b" t="t" l="l"/>
              <a:pathLst>
                <a:path h="734607" w="734607">
                  <a:moveTo>
                    <a:pt x="434045" y="27645"/>
                  </a:moveTo>
                  <a:lnTo>
                    <a:pt x="706961" y="300561"/>
                  </a:lnTo>
                  <a:cubicBezTo>
                    <a:pt x="743822" y="337422"/>
                    <a:pt x="743822" y="397184"/>
                    <a:pt x="706961" y="434045"/>
                  </a:cubicBezTo>
                  <a:lnTo>
                    <a:pt x="434045" y="706961"/>
                  </a:lnTo>
                  <a:cubicBezTo>
                    <a:pt x="397184" y="743822"/>
                    <a:pt x="337422" y="743822"/>
                    <a:pt x="300561" y="706961"/>
                  </a:cubicBezTo>
                  <a:lnTo>
                    <a:pt x="27645" y="434045"/>
                  </a:lnTo>
                  <a:cubicBezTo>
                    <a:pt x="-9216" y="397184"/>
                    <a:pt x="-9216" y="337422"/>
                    <a:pt x="27645" y="300561"/>
                  </a:cubicBezTo>
                  <a:lnTo>
                    <a:pt x="300561" y="27645"/>
                  </a:lnTo>
                  <a:cubicBezTo>
                    <a:pt x="337422" y="-9216"/>
                    <a:pt x="397184" y="-9216"/>
                    <a:pt x="434045" y="27645"/>
                  </a:cubicBezTo>
                  <a:close/>
                </a:path>
              </a:pathLst>
            </a:custGeom>
            <a:blipFill>
              <a:blip r:embed="rId6"/>
              <a:stretch>
                <a:fillRect l="-53359" t="0" r="-53359" b="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2700000">
            <a:off x="15131312" y="-2128465"/>
            <a:ext cx="3398213" cy="339831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107077"/>
                  </a:moveTo>
                  <a:lnTo>
                    <a:pt x="812800" y="705723"/>
                  </a:lnTo>
                  <a:cubicBezTo>
                    <a:pt x="812800" y="734122"/>
                    <a:pt x="801519" y="761357"/>
                    <a:pt x="781438" y="781438"/>
                  </a:cubicBezTo>
                  <a:cubicBezTo>
                    <a:pt x="761357" y="801519"/>
                    <a:pt x="734122" y="812800"/>
                    <a:pt x="705723" y="812800"/>
                  </a:cubicBezTo>
                  <a:lnTo>
                    <a:pt x="107077" y="812800"/>
                  </a:lnTo>
                  <a:cubicBezTo>
                    <a:pt x="78678" y="812800"/>
                    <a:pt x="51443" y="801519"/>
                    <a:pt x="31362" y="781438"/>
                  </a:cubicBezTo>
                  <a:cubicBezTo>
                    <a:pt x="11281" y="761357"/>
                    <a:pt x="0" y="734122"/>
                    <a:pt x="0" y="705723"/>
                  </a:cubicBezTo>
                  <a:lnTo>
                    <a:pt x="0" y="107077"/>
                  </a:lnTo>
                  <a:cubicBezTo>
                    <a:pt x="0" y="78678"/>
                    <a:pt x="11281" y="51443"/>
                    <a:pt x="31362" y="31362"/>
                  </a:cubicBezTo>
                  <a:cubicBezTo>
                    <a:pt x="51443" y="11281"/>
                    <a:pt x="78678" y="0"/>
                    <a:pt x="107077" y="0"/>
                  </a:cubicBezTo>
                  <a:lnTo>
                    <a:pt x="705723" y="0"/>
                  </a:lnTo>
                  <a:cubicBezTo>
                    <a:pt x="734122" y="0"/>
                    <a:pt x="761357" y="11281"/>
                    <a:pt x="781438" y="31362"/>
                  </a:cubicBezTo>
                  <a:cubicBezTo>
                    <a:pt x="801519" y="51443"/>
                    <a:pt x="812800" y="78678"/>
                    <a:pt x="812800" y="107077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696942" y="4094304"/>
            <a:ext cx="0" cy="4544451"/>
          </a:xfrm>
          <a:prstGeom prst="line">
            <a:avLst/>
          </a:prstGeom>
          <a:ln cap="flat" w="38100">
            <a:solidFill>
              <a:srgbClr val="3C728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598139" y="-155750"/>
            <a:ext cx="6949514" cy="5827132"/>
            <a:chOff x="0" y="0"/>
            <a:chExt cx="7633678" cy="640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33684" cy="6400800"/>
            </a:xfrm>
            <a:custGeom>
              <a:avLst/>
              <a:gdLst/>
              <a:ahLst/>
              <a:cxnLst/>
              <a:rect r="r" b="b" t="t" l="l"/>
              <a:pathLst>
                <a:path h="6400800" w="7633684">
                  <a:moveTo>
                    <a:pt x="2415540" y="0"/>
                  </a:moveTo>
                  <a:lnTo>
                    <a:pt x="118872" y="2296414"/>
                  </a:lnTo>
                  <a:cubicBezTo>
                    <a:pt x="42164" y="2373249"/>
                    <a:pt x="2540" y="2473071"/>
                    <a:pt x="0" y="2573655"/>
                  </a:cubicBezTo>
                  <a:lnTo>
                    <a:pt x="0" y="2593975"/>
                  </a:lnTo>
                  <a:cubicBezTo>
                    <a:pt x="2540" y="2694559"/>
                    <a:pt x="42164" y="2794381"/>
                    <a:pt x="118872" y="2871089"/>
                  </a:cubicBezTo>
                  <a:lnTo>
                    <a:pt x="3529457" y="6281801"/>
                  </a:lnTo>
                  <a:cubicBezTo>
                    <a:pt x="3608832" y="6361176"/>
                    <a:pt x="3712845" y="6400800"/>
                    <a:pt x="3816858" y="6400800"/>
                  </a:cubicBezTo>
                  <a:cubicBezTo>
                    <a:pt x="3920871" y="6400800"/>
                    <a:pt x="4024884" y="6361176"/>
                    <a:pt x="4104132" y="6281801"/>
                  </a:cubicBezTo>
                  <a:lnTo>
                    <a:pt x="7514717" y="2871216"/>
                  </a:lnTo>
                  <a:cubicBezTo>
                    <a:pt x="7673340" y="2712593"/>
                    <a:pt x="7673340" y="2455291"/>
                    <a:pt x="7514717" y="2296541"/>
                  </a:cubicBezTo>
                  <a:lnTo>
                    <a:pt x="5218176" y="0"/>
                  </a:lnTo>
                  <a:close/>
                </a:path>
              </a:pathLst>
            </a:custGeom>
            <a:blipFill>
              <a:blip r:embed="rId7"/>
              <a:stretch>
                <a:fillRect l="-12926" t="0" r="-12926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-2700000">
            <a:off x="16171694" y="2416470"/>
            <a:ext cx="3865223" cy="2790987"/>
          </a:xfrm>
          <a:custGeom>
            <a:avLst/>
            <a:gdLst/>
            <a:ahLst/>
            <a:cxnLst/>
            <a:rect r="r" b="b" t="t" l="l"/>
            <a:pathLst>
              <a:path h="2790987" w="3865223">
                <a:moveTo>
                  <a:pt x="0" y="0"/>
                </a:moveTo>
                <a:lnTo>
                  <a:pt x="3865223" y="0"/>
                </a:lnTo>
                <a:lnTo>
                  <a:pt x="3865223" y="2790988"/>
                </a:lnTo>
                <a:lnTo>
                  <a:pt x="0" y="27909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1181" b="-53974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-824917" y="-631628"/>
            <a:ext cx="1616227" cy="1422280"/>
          </a:xfrm>
          <a:custGeom>
            <a:avLst/>
            <a:gdLst/>
            <a:ahLst/>
            <a:cxnLst/>
            <a:rect r="r" b="b" t="t" l="l"/>
            <a:pathLst>
              <a:path h="1422280" w="1616227">
                <a:moveTo>
                  <a:pt x="0" y="0"/>
                </a:moveTo>
                <a:lnTo>
                  <a:pt x="1616228" y="0"/>
                </a:lnTo>
                <a:lnTo>
                  <a:pt x="1616228" y="1422280"/>
                </a:lnTo>
                <a:lnTo>
                  <a:pt x="0" y="1422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1639792" y="2326861"/>
            <a:ext cx="6605796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6799" spc="-271" b="true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Latar Belakang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33465" y="3763085"/>
            <a:ext cx="9316830" cy="5574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8499" indent="-244250" lvl="1">
              <a:lnSpc>
                <a:spcPts val="3393"/>
              </a:lnSpc>
              <a:buFont typeface="Arial"/>
              <a:buChar char="•"/>
            </a:pPr>
            <a:r>
              <a:rPr lang="en-US" sz="2262" spc="-22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Maraknya komentar promosi judi online pada platform YouTub</a:t>
            </a:r>
            <a:r>
              <a:rPr lang="en-US" sz="2262" spc="-22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e.</a:t>
            </a:r>
          </a:p>
          <a:p>
            <a:pPr algn="just" marL="488499" indent="-244250" lvl="1">
              <a:lnSpc>
                <a:spcPts val="3393"/>
              </a:lnSpc>
              <a:buFont typeface="Arial"/>
              <a:buChar char="•"/>
            </a:pPr>
            <a:r>
              <a:rPr lang="en-US" sz="2262" spc="-22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Komentar judol sering disebarkan secara masif dan mengganggu kenyamanan pengguna.</a:t>
            </a:r>
          </a:p>
          <a:p>
            <a:pPr algn="just" marL="488499" indent="-244250" lvl="1">
              <a:lnSpc>
                <a:spcPts val="3393"/>
              </a:lnSpc>
              <a:buFont typeface="Arial"/>
              <a:buChar char="•"/>
            </a:pPr>
            <a:r>
              <a:rPr lang="en-US" sz="2262" spc="-22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Deteksi otomatis diperlukan untuk membantu moderasi konten berbasis machine learning.</a:t>
            </a:r>
          </a:p>
          <a:p>
            <a:pPr algn="just" marL="488499" indent="-244250" lvl="1">
              <a:lnSpc>
                <a:spcPts val="3393"/>
              </a:lnSpc>
              <a:buFont typeface="Arial"/>
              <a:buChar char="•"/>
            </a:pPr>
            <a:r>
              <a:rPr lang="en-US" sz="2262" spc="-22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Komentar judol banyak menggunakan character obfuscation (Unicode, simbol, dan angka) untuk menghindari deteksi.</a:t>
            </a:r>
          </a:p>
          <a:p>
            <a:pPr algn="just" marL="488499" indent="-244250" lvl="1">
              <a:lnSpc>
                <a:spcPts val="3393"/>
              </a:lnSpc>
              <a:buFont typeface="Arial"/>
              <a:buChar char="•"/>
            </a:pPr>
            <a:r>
              <a:rPr lang="en-US" sz="2262" spc="-22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Teknik character obfuscation menyebabkan proses klasifikasi teks menjadi lebih sulit.</a:t>
            </a:r>
          </a:p>
          <a:p>
            <a:pPr algn="just" marL="488499" indent="-244250" lvl="1">
              <a:lnSpc>
                <a:spcPts val="3393"/>
              </a:lnSpc>
              <a:buFont typeface="Arial"/>
              <a:buChar char="•"/>
            </a:pPr>
            <a:r>
              <a:rPr lang="en-US" sz="2262" spc="-22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Penelitian ini membandingkan algoritma SVM dan MLP serta menguji pengaruh Advanced Preprocessing dalam mendeteksi komentar promosi judi online.</a:t>
            </a:r>
          </a:p>
          <a:p>
            <a:pPr algn="just">
              <a:lnSpc>
                <a:spcPts val="339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60000">
            <a:off x="4561439" y="1482466"/>
            <a:ext cx="3488872" cy="348887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8604" y="38604"/>
              <a:ext cx="735591" cy="735591"/>
            </a:xfrm>
            <a:custGeom>
              <a:avLst/>
              <a:gdLst/>
              <a:ahLst/>
              <a:cxnLst/>
              <a:rect r="r" b="b" t="t" l="l"/>
              <a:pathLst>
                <a:path h="735591" w="735591">
                  <a:moveTo>
                    <a:pt x="433698" y="27298"/>
                  </a:moveTo>
                  <a:lnTo>
                    <a:pt x="708294" y="301894"/>
                  </a:lnTo>
                  <a:cubicBezTo>
                    <a:pt x="725772" y="319372"/>
                    <a:pt x="735592" y="343078"/>
                    <a:pt x="735592" y="367796"/>
                  </a:cubicBezTo>
                  <a:cubicBezTo>
                    <a:pt x="735592" y="392514"/>
                    <a:pt x="725772" y="416220"/>
                    <a:pt x="708294" y="433698"/>
                  </a:cubicBezTo>
                  <a:lnTo>
                    <a:pt x="433698" y="708294"/>
                  </a:lnTo>
                  <a:cubicBezTo>
                    <a:pt x="416220" y="725772"/>
                    <a:pt x="392514" y="735592"/>
                    <a:pt x="367796" y="735592"/>
                  </a:cubicBezTo>
                  <a:cubicBezTo>
                    <a:pt x="343078" y="735592"/>
                    <a:pt x="319372" y="725772"/>
                    <a:pt x="301894" y="708294"/>
                  </a:cubicBezTo>
                  <a:lnTo>
                    <a:pt x="27298" y="433698"/>
                  </a:lnTo>
                  <a:cubicBezTo>
                    <a:pt x="9820" y="416220"/>
                    <a:pt x="0" y="392514"/>
                    <a:pt x="0" y="367796"/>
                  </a:cubicBezTo>
                  <a:cubicBezTo>
                    <a:pt x="0" y="343078"/>
                    <a:pt x="9820" y="319372"/>
                    <a:pt x="27298" y="301894"/>
                  </a:cubicBezTo>
                  <a:lnTo>
                    <a:pt x="301894" y="27298"/>
                  </a:lnTo>
                  <a:cubicBezTo>
                    <a:pt x="319372" y="9820"/>
                    <a:pt x="343078" y="0"/>
                    <a:pt x="367796" y="0"/>
                  </a:cubicBezTo>
                  <a:cubicBezTo>
                    <a:pt x="392514" y="0"/>
                    <a:pt x="416220" y="9820"/>
                    <a:pt x="433698" y="27298"/>
                  </a:cubicBezTo>
                  <a:close/>
                </a:path>
              </a:pathLst>
            </a:custGeom>
            <a:blipFill>
              <a:blip r:embed="rId3"/>
              <a:stretch>
                <a:fillRect l="-38888" t="0" r="-38888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561439" y="5315663"/>
            <a:ext cx="3488872" cy="348887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604" y="38604"/>
              <a:ext cx="735591" cy="735591"/>
            </a:xfrm>
            <a:custGeom>
              <a:avLst/>
              <a:gdLst/>
              <a:ahLst/>
              <a:cxnLst/>
              <a:rect r="r" b="b" t="t" l="l"/>
              <a:pathLst>
                <a:path h="735591" w="735591">
                  <a:moveTo>
                    <a:pt x="433698" y="27298"/>
                  </a:moveTo>
                  <a:lnTo>
                    <a:pt x="708294" y="301894"/>
                  </a:lnTo>
                  <a:cubicBezTo>
                    <a:pt x="725772" y="319372"/>
                    <a:pt x="735592" y="343078"/>
                    <a:pt x="735592" y="367796"/>
                  </a:cubicBezTo>
                  <a:cubicBezTo>
                    <a:pt x="735592" y="392514"/>
                    <a:pt x="725772" y="416220"/>
                    <a:pt x="708294" y="433698"/>
                  </a:cubicBezTo>
                  <a:lnTo>
                    <a:pt x="433698" y="708294"/>
                  </a:lnTo>
                  <a:cubicBezTo>
                    <a:pt x="416220" y="725772"/>
                    <a:pt x="392514" y="735592"/>
                    <a:pt x="367796" y="735592"/>
                  </a:cubicBezTo>
                  <a:cubicBezTo>
                    <a:pt x="343078" y="735592"/>
                    <a:pt x="319372" y="725772"/>
                    <a:pt x="301894" y="708294"/>
                  </a:cubicBezTo>
                  <a:lnTo>
                    <a:pt x="27298" y="433698"/>
                  </a:lnTo>
                  <a:cubicBezTo>
                    <a:pt x="9820" y="416220"/>
                    <a:pt x="0" y="392514"/>
                    <a:pt x="0" y="367796"/>
                  </a:cubicBezTo>
                  <a:cubicBezTo>
                    <a:pt x="0" y="343078"/>
                    <a:pt x="9820" y="319372"/>
                    <a:pt x="27298" y="301894"/>
                  </a:cubicBezTo>
                  <a:lnTo>
                    <a:pt x="301894" y="27298"/>
                  </a:lnTo>
                  <a:cubicBezTo>
                    <a:pt x="319372" y="9820"/>
                    <a:pt x="343078" y="0"/>
                    <a:pt x="367796" y="0"/>
                  </a:cubicBezTo>
                  <a:cubicBezTo>
                    <a:pt x="392514" y="0"/>
                    <a:pt x="416220" y="9820"/>
                    <a:pt x="433698" y="27298"/>
                  </a:cubicBezTo>
                  <a:close/>
                </a:path>
              </a:pathLst>
            </a:custGeom>
            <a:blipFill>
              <a:blip r:embed="rId4"/>
              <a:stretch>
                <a:fillRect l="-38888" t="0" r="-3888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2700000">
            <a:off x="6893871" y="4249697"/>
            <a:ext cx="2839098" cy="2839098"/>
          </a:xfrm>
          <a:custGeom>
            <a:avLst/>
            <a:gdLst/>
            <a:ahLst/>
            <a:cxnLst/>
            <a:rect r="r" b="b" t="t" l="l"/>
            <a:pathLst>
              <a:path h="2839098" w="2839098">
                <a:moveTo>
                  <a:pt x="0" y="0"/>
                </a:moveTo>
                <a:lnTo>
                  <a:pt x="2839098" y="0"/>
                </a:lnTo>
                <a:lnTo>
                  <a:pt x="2839098" y="2839098"/>
                </a:lnTo>
                <a:lnTo>
                  <a:pt x="0" y="28390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6410885" y="3399064"/>
            <a:ext cx="3488872" cy="348887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60000">
              <a:off x="38646" y="38646"/>
              <a:ext cx="735508" cy="735508"/>
            </a:xfrm>
            <a:custGeom>
              <a:avLst/>
              <a:gdLst/>
              <a:ahLst/>
              <a:cxnLst/>
              <a:rect r="r" b="b" t="t" l="l"/>
              <a:pathLst>
                <a:path h="735508" w="735508">
                  <a:moveTo>
                    <a:pt x="427703" y="26158"/>
                  </a:moveTo>
                  <a:lnTo>
                    <a:pt x="707050" y="295920"/>
                  </a:lnTo>
                  <a:cubicBezTo>
                    <a:pt x="724831" y="313090"/>
                    <a:pt x="735062" y="336621"/>
                    <a:pt x="735494" y="361335"/>
                  </a:cubicBezTo>
                  <a:cubicBezTo>
                    <a:pt x="735925" y="386049"/>
                    <a:pt x="726521" y="409923"/>
                    <a:pt x="709350" y="427703"/>
                  </a:cubicBezTo>
                  <a:lnTo>
                    <a:pt x="439588" y="707050"/>
                  </a:lnTo>
                  <a:cubicBezTo>
                    <a:pt x="422418" y="724831"/>
                    <a:pt x="398887" y="735062"/>
                    <a:pt x="374173" y="735494"/>
                  </a:cubicBezTo>
                  <a:cubicBezTo>
                    <a:pt x="349459" y="735925"/>
                    <a:pt x="325585" y="726521"/>
                    <a:pt x="307805" y="709350"/>
                  </a:cubicBezTo>
                  <a:lnTo>
                    <a:pt x="28458" y="439588"/>
                  </a:lnTo>
                  <a:cubicBezTo>
                    <a:pt x="10677" y="422418"/>
                    <a:pt x="446" y="398887"/>
                    <a:pt x="14" y="374173"/>
                  </a:cubicBezTo>
                  <a:cubicBezTo>
                    <a:pt x="-417" y="349459"/>
                    <a:pt x="8987" y="325585"/>
                    <a:pt x="26158" y="307805"/>
                  </a:cubicBezTo>
                  <a:lnTo>
                    <a:pt x="295920" y="28458"/>
                  </a:lnTo>
                  <a:cubicBezTo>
                    <a:pt x="313090" y="10677"/>
                    <a:pt x="336621" y="446"/>
                    <a:pt x="361335" y="14"/>
                  </a:cubicBezTo>
                  <a:cubicBezTo>
                    <a:pt x="386049" y="-417"/>
                    <a:pt x="409923" y="8987"/>
                    <a:pt x="427703" y="26158"/>
                  </a:cubicBezTo>
                  <a:close/>
                </a:path>
              </a:pathLst>
            </a:custGeom>
            <a:blipFill>
              <a:blip r:embed="rId7"/>
              <a:stretch>
                <a:fillRect l="-91707" t="-5245" r="-5599" b="-524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372415" y="7006797"/>
            <a:ext cx="7215741" cy="3971607"/>
          </a:xfrm>
          <a:custGeom>
            <a:avLst/>
            <a:gdLst/>
            <a:ahLst/>
            <a:cxnLst/>
            <a:rect r="r" b="b" t="t" l="l"/>
            <a:pathLst>
              <a:path h="3971607" w="7215741">
                <a:moveTo>
                  <a:pt x="0" y="0"/>
                </a:moveTo>
                <a:lnTo>
                  <a:pt x="7215741" y="0"/>
                </a:lnTo>
                <a:lnTo>
                  <a:pt x="7215741" y="3971607"/>
                </a:lnTo>
                <a:lnTo>
                  <a:pt x="0" y="39716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2000"/>
            </a:blip>
            <a:stretch>
              <a:fillRect l="0" t="0" r="-15036" b="-42121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964782" y="7188520"/>
            <a:ext cx="488272" cy="4882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B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9158287" y="1224160"/>
            <a:ext cx="0" cy="1984404"/>
          </a:xfrm>
          <a:prstGeom prst="line">
            <a:avLst/>
          </a:prstGeom>
          <a:ln cap="flat" w="28575">
            <a:solidFill>
              <a:srgbClr val="F8412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9358864" y="1056990"/>
            <a:ext cx="790043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spc="-11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Bagaimana m</a:t>
            </a:r>
            <a:r>
              <a:rPr lang="en-US" b="true" sz="2851" spc="-114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endeteksi komentar promosi judi online secara otomatis pada komentar YouTube berbahasa Indonesia menggunakan pendekatan machine learning?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087494" y="5692679"/>
            <a:ext cx="0" cy="1984113"/>
          </a:xfrm>
          <a:prstGeom prst="line">
            <a:avLst/>
          </a:prstGeom>
          <a:ln cap="flat" w="28575">
            <a:solidFill>
              <a:srgbClr val="3C72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335253" y="3161012"/>
            <a:ext cx="0" cy="1984404"/>
          </a:xfrm>
          <a:prstGeom prst="line">
            <a:avLst/>
          </a:prstGeom>
          <a:ln cap="flat" w="28575">
            <a:solidFill>
              <a:srgbClr val="FFC5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-2700000">
            <a:off x="-394496" y="-1748538"/>
            <a:ext cx="3306576" cy="3306576"/>
          </a:xfrm>
          <a:custGeom>
            <a:avLst/>
            <a:gdLst/>
            <a:ahLst/>
            <a:cxnLst/>
            <a:rect r="r" b="b" t="t" l="l"/>
            <a:pathLst>
              <a:path h="3306576" w="3306576">
                <a:moveTo>
                  <a:pt x="0" y="0"/>
                </a:moveTo>
                <a:lnTo>
                  <a:pt x="3306576" y="0"/>
                </a:lnTo>
                <a:lnTo>
                  <a:pt x="3306576" y="3306576"/>
                </a:lnTo>
                <a:lnTo>
                  <a:pt x="0" y="33065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2700000">
            <a:off x="15601761" y="7516843"/>
            <a:ext cx="4029801" cy="4029801"/>
          </a:xfrm>
          <a:custGeom>
            <a:avLst/>
            <a:gdLst/>
            <a:ahLst/>
            <a:cxnLst/>
            <a:rect r="r" b="b" t="t" l="l"/>
            <a:pathLst>
              <a:path h="4029801" w="4029801">
                <a:moveTo>
                  <a:pt x="0" y="0"/>
                </a:moveTo>
                <a:lnTo>
                  <a:pt x="4029801" y="0"/>
                </a:lnTo>
                <a:lnTo>
                  <a:pt x="4029801" y="4029801"/>
                </a:lnTo>
                <a:lnTo>
                  <a:pt x="0" y="40298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767125" y="4029390"/>
            <a:ext cx="4640701" cy="224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7630" spc="-305" b="true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Rumusan Masalah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88156" y="3046712"/>
            <a:ext cx="7345019" cy="225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spc="-11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Bagaimana p</a:t>
            </a:r>
            <a:r>
              <a:rPr lang="en-US" b="true" sz="2851" spc="-114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engaruh penerapan Standard Preprocessing, Advanced Preprocessing, dan Dataset Clean Preprocessing terhadap performa model klasifikasi?</a:t>
            </a:r>
          </a:p>
        </p:txBody>
      </p:sp>
      <p:sp>
        <p:nvSpPr>
          <p:cNvPr name="AutoShape 22" id="22"/>
          <p:cNvSpPr/>
          <p:nvPr/>
        </p:nvSpPr>
        <p:spPr>
          <a:xfrm>
            <a:off x="8556591" y="8000544"/>
            <a:ext cx="0" cy="1984113"/>
          </a:xfrm>
          <a:prstGeom prst="line">
            <a:avLst/>
          </a:prstGeom>
          <a:ln cap="flat" w="28575">
            <a:solidFill>
              <a:srgbClr val="3C72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0335253" y="5925007"/>
            <a:ext cx="7345019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spc="-11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Bagaimana p</a:t>
            </a:r>
            <a:r>
              <a:rPr lang="en-US" b="true" sz="2851" spc="-114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erforma algoritma SVM dan MLP dalam mendeteksi komentar promosi judi online?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45600" y="7953017"/>
            <a:ext cx="7345019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851" spc="-11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Model dan skenario preprocessing manakah ya</a:t>
            </a:r>
            <a:r>
              <a:rPr lang="en-US" b="true" sz="2851" spc="-114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ng menghasilkan performa terbaik dalam mendeteksi komentar promosi judi online?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315034">
            <a:off x="7899908" y="-1725778"/>
            <a:ext cx="6717935" cy="5046849"/>
          </a:xfrm>
          <a:custGeom>
            <a:avLst/>
            <a:gdLst/>
            <a:ahLst/>
            <a:cxnLst/>
            <a:rect r="r" b="b" t="t" l="l"/>
            <a:pathLst>
              <a:path h="5046849" w="6717935">
                <a:moveTo>
                  <a:pt x="0" y="0"/>
                </a:moveTo>
                <a:lnTo>
                  <a:pt x="6717935" y="0"/>
                </a:lnTo>
                <a:lnTo>
                  <a:pt x="6717935" y="5046849"/>
                </a:lnTo>
                <a:lnTo>
                  <a:pt x="0" y="50468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16063312" y="-875351"/>
            <a:ext cx="4449377" cy="4449377"/>
          </a:xfrm>
          <a:custGeom>
            <a:avLst/>
            <a:gdLst/>
            <a:ahLst/>
            <a:cxnLst/>
            <a:rect r="r" b="b" t="t" l="l"/>
            <a:pathLst>
              <a:path h="4449377" w="4449377">
                <a:moveTo>
                  <a:pt x="0" y="0"/>
                </a:moveTo>
                <a:lnTo>
                  <a:pt x="4449376" y="0"/>
                </a:lnTo>
                <a:lnTo>
                  <a:pt x="4449376" y="4449377"/>
                </a:lnTo>
                <a:lnTo>
                  <a:pt x="0" y="44493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9406" y="914400"/>
            <a:ext cx="12668125" cy="200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6799" spc="-271" b="true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Tujuan dan Manfaat Penelitian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1028" y="3177732"/>
            <a:ext cx="4388996" cy="5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 b="true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Tujuan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9406" y="4190027"/>
            <a:ext cx="7581194" cy="464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Mendeteksi komentar p</a:t>
            </a: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romosi judi online pada YouTube menggunakan machine learning.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Menganalisis pengaruh Standard Preprocessing, Advanced Preprocessing, dan Dataset Clean Preprocessing terhadap performa klasifikasi.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Membandingkan performa algoritma SVM dan MLP dalam mendeteksi komentar promosi judi online.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Menentukan model dan skenario preprocessing terbaik berdasarkan hasil evaluasi klasifikasi.</a:t>
            </a:r>
          </a:p>
        </p:txBody>
      </p:sp>
      <p:sp>
        <p:nvSpPr>
          <p:cNvPr name="AutoShape 8" id="8"/>
          <p:cNvSpPr/>
          <p:nvPr/>
        </p:nvSpPr>
        <p:spPr>
          <a:xfrm flipH="true">
            <a:off x="9129712" y="3330085"/>
            <a:ext cx="0" cy="5508143"/>
          </a:xfrm>
          <a:prstGeom prst="line">
            <a:avLst/>
          </a:prstGeom>
          <a:ln cap="flat" w="28575">
            <a:solidFill>
              <a:srgbClr val="3C72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948410" y="3177732"/>
            <a:ext cx="4388996" cy="53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-128" b="true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Manfaat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48825" y="4190027"/>
            <a:ext cx="742372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Membantu deteksi </a:t>
            </a: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otomatis komentar promosi judi online pada platform media sosial.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Memberikan informasi mengenai skenario preprocessing yang paling efektif dalam menangani karakter obfuscation pada data teks.</a:t>
            </a:r>
          </a:p>
          <a:p>
            <a:pPr algn="just" marL="539748" indent="-269874" lvl="1">
              <a:lnSpc>
                <a:spcPts val="3749"/>
              </a:lnSpc>
              <a:buFont typeface="Arial"/>
              <a:buChar char="•"/>
            </a:pPr>
            <a:r>
              <a:rPr lang="en-US" sz="2499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Menjadi referensi penelitian NLP dan klasifikasi teks berbahasa Indonesia.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3889" y="914400"/>
            <a:ext cx="11494410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6799" spc="-271" b="true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Dataset Penelitian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8181" y="7767595"/>
            <a:ext cx="4593924" cy="1226170"/>
          </a:xfrm>
          <a:custGeom>
            <a:avLst/>
            <a:gdLst/>
            <a:ahLst/>
            <a:cxnLst/>
            <a:rect r="r" b="b" t="t" l="l"/>
            <a:pathLst>
              <a:path h="1226170" w="4593924">
                <a:moveTo>
                  <a:pt x="0" y="0"/>
                </a:moveTo>
                <a:lnTo>
                  <a:pt x="4593924" y="0"/>
                </a:lnTo>
                <a:lnTo>
                  <a:pt x="4593924" y="1226170"/>
                </a:lnTo>
                <a:lnTo>
                  <a:pt x="0" y="1226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4793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938181" y="5497845"/>
            <a:ext cx="6423881" cy="4005636"/>
            <a:chOff x="0" y="0"/>
            <a:chExt cx="1691886" cy="10549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91886" cy="1054982"/>
            </a:xfrm>
            <a:custGeom>
              <a:avLst/>
              <a:gdLst/>
              <a:ahLst/>
              <a:cxnLst/>
              <a:rect r="r" b="b" t="t" l="l"/>
              <a:pathLst>
                <a:path h="1054982" w="1691886">
                  <a:moveTo>
                    <a:pt x="43386" y="0"/>
                  </a:moveTo>
                  <a:lnTo>
                    <a:pt x="1648500" y="0"/>
                  </a:lnTo>
                  <a:cubicBezTo>
                    <a:pt x="1660007" y="0"/>
                    <a:pt x="1671042" y="4571"/>
                    <a:pt x="1679179" y="12708"/>
                  </a:cubicBezTo>
                  <a:cubicBezTo>
                    <a:pt x="1687315" y="20844"/>
                    <a:pt x="1691886" y="31880"/>
                    <a:pt x="1691886" y="43386"/>
                  </a:cubicBezTo>
                  <a:lnTo>
                    <a:pt x="1691886" y="1011596"/>
                  </a:lnTo>
                  <a:cubicBezTo>
                    <a:pt x="1691886" y="1023103"/>
                    <a:pt x="1687315" y="1034138"/>
                    <a:pt x="1679179" y="1042275"/>
                  </a:cubicBezTo>
                  <a:cubicBezTo>
                    <a:pt x="1671042" y="1050411"/>
                    <a:pt x="1660007" y="1054982"/>
                    <a:pt x="1648500" y="1054982"/>
                  </a:cubicBezTo>
                  <a:lnTo>
                    <a:pt x="43386" y="1054982"/>
                  </a:lnTo>
                  <a:cubicBezTo>
                    <a:pt x="31880" y="1054982"/>
                    <a:pt x="20844" y="1050411"/>
                    <a:pt x="12708" y="1042275"/>
                  </a:cubicBezTo>
                  <a:cubicBezTo>
                    <a:pt x="4571" y="1034138"/>
                    <a:pt x="0" y="1023103"/>
                    <a:pt x="0" y="1011596"/>
                  </a:cubicBezTo>
                  <a:lnTo>
                    <a:pt x="0" y="43386"/>
                  </a:lnTo>
                  <a:cubicBezTo>
                    <a:pt x="0" y="31880"/>
                    <a:pt x="4571" y="20844"/>
                    <a:pt x="12708" y="12708"/>
                  </a:cubicBezTo>
                  <a:cubicBezTo>
                    <a:pt x="20844" y="4571"/>
                    <a:pt x="31880" y="0"/>
                    <a:pt x="43386" y="0"/>
                  </a:cubicBezTo>
                  <a:close/>
                </a:path>
              </a:pathLst>
            </a:custGeom>
            <a:solidFill>
              <a:srgbClr val="3C728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691886" cy="112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411917" y="-553249"/>
            <a:ext cx="4397545" cy="4324349"/>
          </a:xfrm>
          <a:custGeom>
            <a:avLst/>
            <a:gdLst/>
            <a:ahLst/>
            <a:cxnLst/>
            <a:rect r="r" b="b" t="t" l="l"/>
            <a:pathLst>
              <a:path h="4324349" w="4397545">
                <a:moveTo>
                  <a:pt x="0" y="0"/>
                </a:moveTo>
                <a:lnTo>
                  <a:pt x="4397545" y="0"/>
                </a:lnTo>
                <a:lnTo>
                  <a:pt x="4397545" y="4324348"/>
                </a:lnTo>
                <a:lnTo>
                  <a:pt x="0" y="43243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2000"/>
            </a:blip>
            <a:stretch>
              <a:fillRect l="-30767" t="-24669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682113" y="2559656"/>
            <a:ext cx="3816825" cy="548453"/>
            <a:chOff x="0" y="0"/>
            <a:chExt cx="1005254" cy="1444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5254" cy="144449"/>
            </a:xfrm>
            <a:custGeom>
              <a:avLst/>
              <a:gdLst/>
              <a:ahLst/>
              <a:cxnLst/>
              <a:rect r="r" b="b" t="t" l="l"/>
              <a:pathLst>
                <a:path h="144449" w="1005254">
                  <a:moveTo>
                    <a:pt x="72224" y="0"/>
                  </a:moveTo>
                  <a:lnTo>
                    <a:pt x="933030" y="0"/>
                  </a:lnTo>
                  <a:cubicBezTo>
                    <a:pt x="972918" y="0"/>
                    <a:pt x="1005254" y="32336"/>
                    <a:pt x="1005254" y="72224"/>
                  </a:cubicBezTo>
                  <a:lnTo>
                    <a:pt x="1005254" y="72224"/>
                  </a:lnTo>
                  <a:cubicBezTo>
                    <a:pt x="1005254" y="112113"/>
                    <a:pt x="972918" y="144449"/>
                    <a:pt x="933030" y="144449"/>
                  </a:cubicBezTo>
                  <a:lnTo>
                    <a:pt x="72224" y="144449"/>
                  </a:lnTo>
                  <a:cubicBezTo>
                    <a:pt x="32336" y="144449"/>
                    <a:pt x="0" y="112113"/>
                    <a:pt x="0" y="72224"/>
                  </a:cubicBezTo>
                  <a:lnTo>
                    <a:pt x="0" y="72224"/>
                  </a:lnTo>
                  <a:cubicBezTo>
                    <a:pt x="0" y="32336"/>
                    <a:pt x="32336" y="0"/>
                    <a:pt x="72224" y="0"/>
                  </a:cubicBezTo>
                  <a:close/>
                </a:path>
              </a:pathLst>
            </a:custGeom>
            <a:solidFill>
              <a:srgbClr val="DAF7F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05254" cy="21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2700000">
            <a:off x="16415714" y="-1145071"/>
            <a:ext cx="3744572" cy="3744572"/>
          </a:xfrm>
          <a:custGeom>
            <a:avLst/>
            <a:gdLst/>
            <a:ahLst/>
            <a:cxnLst/>
            <a:rect r="r" b="b" t="t" l="l"/>
            <a:pathLst>
              <a:path h="3744572" w="3744572">
                <a:moveTo>
                  <a:pt x="0" y="0"/>
                </a:moveTo>
                <a:lnTo>
                  <a:pt x="3744572" y="0"/>
                </a:lnTo>
                <a:lnTo>
                  <a:pt x="3744572" y="3744572"/>
                </a:lnTo>
                <a:lnTo>
                  <a:pt x="0" y="3744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938181" y="3183573"/>
            <a:ext cx="6423881" cy="1800396"/>
            <a:chOff x="0" y="0"/>
            <a:chExt cx="8565174" cy="240052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565174" cy="2400528"/>
              <a:chOff x="0" y="0"/>
              <a:chExt cx="1909113" cy="53506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09114" cy="535060"/>
              </a:xfrm>
              <a:custGeom>
                <a:avLst/>
                <a:gdLst/>
                <a:ahLst/>
                <a:cxnLst/>
                <a:rect r="r" b="b" t="t" l="l"/>
                <a:pathLst>
                  <a:path h="535060" w="1909114">
                    <a:moveTo>
                      <a:pt x="0" y="0"/>
                    </a:moveTo>
                    <a:lnTo>
                      <a:pt x="1909114" y="0"/>
                    </a:lnTo>
                    <a:lnTo>
                      <a:pt x="1909114" y="535060"/>
                    </a:lnTo>
                    <a:lnTo>
                      <a:pt x="0" y="535060"/>
                    </a:lnTo>
                    <a:close/>
                  </a:path>
                </a:pathLst>
              </a:custGeom>
              <a:solidFill>
                <a:srgbClr val="737373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1909113" cy="5636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97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7705112" y="3136012"/>
            <a:ext cx="5399293" cy="3081871"/>
            <a:chOff x="0" y="0"/>
            <a:chExt cx="1422036" cy="8116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22036" cy="811686"/>
            </a:xfrm>
            <a:custGeom>
              <a:avLst/>
              <a:gdLst/>
              <a:ahLst/>
              <a:cxnLst/>
              <a:rect r="r" b="b" t="t" l="l"/>
              <a:pathLst>
                <a:path h="811686" w="1422036">
                  <a:moveTo>
                    <a:pt x="0" y="0"/>
                  </a:moveTo>
                  <a:lnTo>
                    <a:pt x="1422036" y="0"/>
                  </a:lnTo>
                  <a:lnTo>
                    <a:pt x="1422036" y="811686"/>
                  </a:lnTo>
                  <a:lnTo>
                    <a:pt x="0" y="811686"/>
                  </a:lnTo>
                  <a:close/>
                </a:path>
              </a:pathLst>
            </a:custGeom>
            <a:solidFill>
              <a:srgbClr val="DAF7F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422036" cy="840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graphicFrame>
        <p:nvGraphicFramePr>
          <p:cNvPr name="Object 20" id="20"/>
          <p:cNvGraphicFramePr/>
          <p:nvPr/>
        </p:nvGraphicFramePr>
        <p:xfrm>
          <a:off x="7891325" y="3211475"/>
          <a:ext cx="5086532" cy="8575426"/>
        </p:xfrm>
        <a:graphic>
          <a:graphicData uri="http://schemas.openxmlformats.org/presentationml/2006/ole">
            <p:oleObj imgW="6794500" imgH="102870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7767384" y="6997598"/>
            <a:ext cx="5514717" cy="3107454"/>
            <a:chOff x="0" y="0"/>
            <a:chExt cx="1452436" cy="8184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52436" cy="818424"/>
            </a:xfrm>
            <a:custGeom>
              <a:avLst/>
              <a:gdLst/>
              <a:ahLst/>
              <a:cxnLst/>
              <a:rect r="r" b="b" t="t" l="l"/>
              <a:pathLst>
                <a:path h="818424" w="1452436">
                  <a:moveTo>
                    <a:pt x="0" y="0"/>
                  </a:moveTo>
                  <a:lnTo>
                    <a:pt x="1452436" y="0"/>
                  </a:lnTo>
                  <a:lnTo>
                    <a:pt x="1452436" y="818424"/>
                  </a:lnTo>
                  <a:lnTo>
                    <a:pt x="0" y="818424"/>
                  </a:ln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452436" cy="846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graphicFrame>
        <p:nvGraphicFramePr>
          <p:cNvPr name="Object 24" id="24"/>
          <p:cNvGraphicFramePr/>
          <p:nvPr/>
        </p:nvGraphicFramePr>
        <p:xfrm>
          <a:off x="8008744" y="7073798"/>
          <a:ext cx="5086532" cy="8575426"/>
        </p:xfrm>
        <a:graphic>
          <a:graphicData uri="http://schemas.openxmlformats.org/presentationml/2006/ole">
            <p:oleObj imgW="6794500" imgH="102870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5" id="25"/>
          <p:cNvSpPr txBox="true"/>
          <p:nvPr/>
        </p:nvSpPr>
        <p:spPr>
          <a:xfrm rot="0">
            <a:off x="1200338" y="6383348"/>
            <a:ext cx="5925457" cy="271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391" indent="-225196" lvl="1">
              <a:lnSpc>
                <a:spcPts val="3129"/>
              </a:lnSpc>
              <a:buFont typeface="Arial"/>
              <a:buChar char="•"/>
            </a:pPr>
            <a:r>
              <a:rPr lang="en-US" sz="2086" spc="-20">
                <a:solidFill>
                  <a:srgbClr val="FAFBFF"/>
                </a:solidFill>
                <a:latin typeface="Open Sans"/>
                <a:ea typeface="Open Sans"/>
                <a:cs typeface="Open Sans"/>
                <a:sym typeface="Open Sans"/>
              </a:rPr>
              <a:t>dataset berisi </a:t>
            </a:r>
            <a:r>
              <a:rPr lang="en-US" sz="2086" spc="-20">
                <a:solidFill>
                  <a:srgbClr val="FAFBFF"/>
                </a:solidFill>
                <a:latin typeface="Open Sans"/>
                <a:ea typeface="Open Sans"/>
                <a:cs typeface="Open Sans"/>
                <a:sym typeface="Open Sans"/>
              </a:rPr>
              <a:t>komentar mengandung promosi situs judi online</a:t>
            </a:r>
          </a:p>
          <a:p>
            <a:pPr algn="l" marL="450391" indent="-225196" lvl="1">
              <a:lnSpc>
                <a:spcPts val="3129"/>
              </a:lnSpc>
              <a:buFont typeface="Arial"/>
              <a:buChar char="•"/>
            </a:pPr>
            <a:r>
              <a:rPr lang="en-US" sz="2086" spc="-20">
                <a:solidFill>
                  <a:srgbClr val="FAFBFF"/>
                </a:solidFill>
                <a:latin typeface="Open Sans"/>
                <a:ea typeface="Open Sans"/>
                <a:cs typeface="Open Sans"/>
                <a:sym typeface="Open Sans"/>
              </a:rPr>
              <a:t>Ditemukan penggunaan Unicode stylized text, simbol dekoratif, dan angka</a:t>
            </a:r>
          </a:p>
          <a:p>
            <a:pPr algn="l" marL="450391" indent="-225196" lvl="1">
              <a:lnSpc>
                <a:spcPts val="3129"/>
              </a:lnSpc>
              <a:buFont typeface="Arial"/>
              <a:buChar char="•"/>
            </a:pPr>
            <a:r>
              <a:rPr lang="en-US" sz="2086" spc="-20">
                <a:solidFill>
                  <a:srgbClr val="FAFBFF"/>
                </a:solidFill>
                <a:latin typeface="Open Sans"/>
                <a:ea typeface="Open Sans"/>
                <a:cs typeface="Open Sans"/>
                <a:sym typeface="Open Sans"/>
              </a:rPr>
              <a:t>Sebagian kom</a:t>
            </a:r>
            <a:r>
              <a:rPr lang="en-US" sz="2086" spc="-20">
                <a:solidFill>
                  <a:srgbClr val="FAFBFF"/>
                </a:solidFill>
                <a:latin typeface="Open Sans"/>
                <a:ea typeface="Open Sans"/>
                <a:cs typeface="Open Sans"/>
                <a:sym typeface="Open Sans"/>
              </a:rPr>
              <a:t>entar menggunakan teknik character obfuscation untuk menyamarkan keyword promosi judi online.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0338" y="5810250"/>
            <a:ext cx="3233482" cy="37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spc="-22" b="true">
                <a:solidFill>
                  <a:srgbClr val="FAFBFF"/>
                </a:solidFill>
                <a:latin typeface="Mont Bold"/>
                <a:ea typeface="Mont Bold"/>
                <a:cs typeface="Mont Bold"/>
                <a:sym typeface="Mont Bold"/>
              </a:rPr>
              <a:t>Karakteristik Dataset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2732151"/>
            <a:ext cx="2798873" cy="4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2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Sumbe</a:t>
            </a:r>
            <a:r>
              <a:rPr lang="en-US" b="true" sz="2400" spc="-24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r Dataset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05112" y="2652459"/>
            <a:ext cx="2798873" cy="4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2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info</a:t>
            </a:r>
            <a:r>
              <a:rPr lang="en-US" b="true" sz="2400" spc="-24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rmasi Dataset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25869" y="6517537"/>
            <a:ext cx="3819025" cy="4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2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Kolo</a:t>
            </a:r>
            <a:r>
              <a:rPr lang="en-US" b="true" sz="2400" spc="-24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m yang Digunakan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971413" y="2652459"/>
            <a:ext cx="3337549" cy="4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2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Skenario Penelitian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42344" y="3337031"/>
            <a:ext cx="4238161" cy="583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9"/>
              </a:lnSpc>
            </a:pPr>
            <a:r>
              <a:rPr lang="en-US" sz="2086" spc="-20" b="true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Penelitian menggunakan 3 skenario preprocessing:</a:t>
            </a:r>
          </a:p>
          <a:p>
            <a:pPr algn="l" marL="450391" indent="-225196" lvl="1">
              <a:lnSpc>
                <a:spcPts val="3129"/>
              </a:lnSpc>
              <a:buFont typeface="Arial"/>
              <a:buChar char="•"/>
            </a:pPr>
            <a:r>
              <a:rPr lang="en-US" b="true" sz="2086" spc="-20">
                <a:solidFill>
                  <a:srgbClr val="3C72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Standard preprocessing pada kolom komentar</a:t>
            </a:r>
          </a:p>
          <a:p>
            <a:pPr algn="l" marL="450391" indent="-225196" lvl="1">
              <a:lnSpc>
                <a:spcPts val="3129"/>
              </a:lnSpc>
              <a:buFont typeface="Arial"/>
              <a:buChar char="•"/>
            </a:pPr>
            <a:r>
              <a:rPr lang="en-US" b="true" sz="2086" spc="-20">
                <a:solidFill>
                  <a:srgbClr val="3C72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preprocessing pada kolom komentar</a:t>
            </a:r>
          </a:p>
          <a:p>
            <a:pPr algn="l" marL="450391" indent="-225196" lvl="1">
              <a:lnSpc>
                <a:spcPts val="3129"/>
              </a:lnSpc>
              <a:buFont typeface="Arial"/>
              <a:buChar char="•"/>
            </a:pPr>
            <a:r>
              <a:rPr lang="en-US" b="true" sz="2086" spc="-20">
                <a:solidFill>
                  <a:srgbClr val="3C72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clean preprocessing pada kolom komentar_clean</a:t>
            </a:r>
          </a:p>
          <a:p>
            <a:pPr algn="l" marL="450391" indent="-225196" lvl="1">
              <a:lnSpc>
                <a:spcPts val="3129"/>
              </a:lnSpc>
              <a:buFont typeface="Arial"/>
              <a:buChar char="•"/>
            </a:pPr>
            <a:r>
              <a:rPr lang="en-US" b="true" sz="2086" spc="-20">
                <a:solidFill>
                  <a:srgbClr val="3C72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Hasil dari ketiga skenario kemudian dibandingkan untuk melihat preprocessing yang paling efektif dalam mendeteksi komentar promosi judi online.</a:t>
            </a:r>
          </a:p>
          <a:p>
            <a:pPr algn="l">
              <a:lnSpc>
                <a:spcPts val="312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92157" y="-720007"/>
            <a:ext cx="8188962" cy="4370902"/>
          </a:xfrm>
          <a:custGeom>
            <a:avLst/>
            <a:gdLst/>
            <a:ahLst/>
            <a:cxnLst/>
            <a:rect r="r" b="b" t="t" l="l"/>
            <a:pathLst>
              <a:path h="4370902" w="8188962">
                <a:moveTo>
                  <a:pt x="0" y="0"/>
                </a:moveTo>
                <a:lnTo>
                  <a:pt x="8188962" y="0"/>
                </a:lnTo>
                <a:lnTo>
                  <a:pt x="8188962" y="4370902"/>
                </a:lnTo>
                <a:lnTo>
                  <a:pt x="0" y="437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-4613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-993347" y="-1331538"/>
            <a:ext cx="3577476" cy="3577476"/>
          </a:xfrm>
          <a:custGeom>
            <a:avLst/>
            <a:gdLst/>
            <a:ahLst/>
            <a:cxnLst/>
            <a:rect r="r" b="b" t="t" l="l"/>
            <a:pathLst>
              <a:path h="3577476" w="3577476">
                <a:moveTo>
                  <a:pt x="0" y="0"/>
                </a:moveTo>
                <a:lnTo>
                  <a:pt x="3577476" y="0"/>
                </a:lnTo>
                <a:lnTo>
                  <a:pt x="3577476" y="3577476"/>
                </a:lnTo>
                <a:lnTo>
                  <a:pt x="0" y="3577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2700000">
            <a:off x="16698483" y="7841487"/>
            <a:ext cx="3179035" cy="3083664"/>
          </a:xfrm>
          <a:custGeom>
            <a:avLst/>
            <a:gdLst/>
            <a:ahLst/>
            <a:cxnLst/>
            <a:rect r="r" b="b" t="t" l="l"/>
            <a:pathLst>
              <a:path h="3083664" w="3179035">
                <a:moveTo>
                  <a:pt x="0" y="0"/>
                </a:moveTo>
                <a:lnTo>
                  <a:pt x="3179034" y="0"/>
                </a:lnTo>
                <a:lnTo>
                  <a:pt x="3179034" y="3083664"/>
                </a:lnTo>
                <a:lnTo>
                  <a:pt x="0" y="3083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7423605" y="378492"/>
            <a:ext cx="715028" cy="650208"/>
          </a:xfrm>
          <a:custGeom>
            <a:avLst/>
            <a:gdLst/>
            <a:ahLst/>
            <a:cxnLst/>
            <a:rect r="r" b="b" t="t" l="l"/>
            <a:pathLst>
              <a:path h="650208" w="715028">
                <a:moveTo>
                  <a:pt x="0" y="0"/>
                </a:moveTo>
                <a:lnTo>
                  <a:pt x="715028" y="0"/>
                </a:lnTo>
                <a:lnTo>
                  <a:pt x="715028" y="650208"/>
                </a:lnTo>
                <a:lnTo>
                  <a:pt x="0" y="6502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6085" t="-100468" r="-186958" b="-11654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0387" y="2437775"/>
            <a:ext cx="17827226" cy="6818914"/>
          </a:xfrm>
          <a:custGeom>
            <a:avLst/>
            <a:gdLst/>
            <a:ahLst/>
            <a:cxnLst/>
            <a:rect r="r" b="b" t="t" l="l"/>
            <a:pathLst>
              <a:path h="6818914" w="17827226">
                <a:moveTo>
                  <a:pt x="0" y="0"/>
                </a:moveTo>
                <a:lnTo>
                  <a:pt x="17827226" y="0"/>
                </a:lnTo>
                <a:lnTo>
                  <a:pt x="17827226" y="6818915"/>
                </a:lnTo>
                <a:lnTo>
                  <a:pt x="0" y="681891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95389" y="836159"/>
            <a:ext cx="8097222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9"/>
              </a:lnSpc>
            </a:pPr>
            <a:r>
              <a:rPr lang="en-US" b="true" sz="6799" spc="-271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Pipeline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19615" y="-1714037"/>
            <a:ext cx="5389512" cy="4345294"/>
          </a:xfrm>
          <a:custGeom>
            <a:avLst/>
            <a:gdLst/>
            <a:ahLst/>
            <a:cxnLst/>
            <a:rect r="r" b="b" t="t" l="l"/>
            <a:pathLst>
              <a:path h="4345294" w="5389512">
                <a:moveTo>
                  <a:pt x="0" y="0"/>
                </a:moveTo>
                <a:lnTo>
                  <a:pt x="5389512" y="0"/>
                </a:lnTo>
                <a:lnTo>
                  <a:pt x="5389512" y="4345294"/>
                </a:lnTo>
                <a:lnTo>
                  <a:pt x="0" y="4345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644831" y="9058062"/>
            <a:ext cx="1228938" cy="1228938"/>
          </a:xfrm>
          <a:custGeom>
            <a:avLst/>
            <a:gdLst/>
            <a:ahLst/>
            <a:cxnLst/>
            <a:rect r="r" b="b" t="t" l="l"/>
            <a:pathLst>
              <a:path h="1228938" w="1228938">
                <a:moveTo>
                  <a:pt x="0" y="0"/>
                </a:moveTo>
                <a:lnTo>
                  <a:pt x="1228938" y="0"/>
                </a:lnTo>
                <a:lnTo>
                  <a:pt x="1228938" y="1228938"/>
                </a:lnTo>
                <a:lnTo>
                  <a:pt x="0" y="12289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713963" y="0"/>
            <a:ext cx="3795593" cy="2448779"/>
            <a:chOff x="0" y="0"/>
            <a:chExt cx="14163891" cy="9138031"/>
          </a:xfrm>
        </p:grpSpPr>
        <p:sp>
          <p:nvSpPr>
            <p:cNvPr name="Freeform 6" id="6"/>
            <p:cNvSpPr/>
            <p:nvPr/>
          </p:nvSpPr>
          <p:spPr>
            <a:xfrm flipH="true" flipV="false" rot="0">
              <a:off x="0" y="0"/>
              <a:ext cx="14163929" cy="9138031"/>
            </a:xfrm>
            <a:custGeom>
              <a:avLst/>
              <a:gdLst/>
              <a:ahLst/>
              <a:cxnLst/>
              <a:rect r="r" b="b" t="t" l="l"/>
              <a:pathLst>
                <a:path h="9138031" w="14163929">
                  <a:moveTo>
                    <a:pt x="8081264" y="0"/>
                  </a:moveTo>
                  <a:lnTo>
                    <a:pt x="4447794" y="3633597"/>
                  </a:lnTo>
                  <a:cubicBezTo>
                    <a:pt x="4335400" y="3745992"/>
                    <a:pt x="4188079" y="3802253"/>
                    <a:pt x="4040760" y="3802253"/>
                  </a:cubicBezTo>
                  <a:cubicBezTo>
                    <a:pt x="3893439" y="3802253"/>
                    <a:pt x="3746119" y="3745992"/>
                    <a:pt x="3633725" y="3633597"/>
                  </a:cubicBezTo>
                  <a:lnTo>
                    <a:pt x="0" y="0"/>
                  </a:lnTo>
                  <a:close/>
                  <a:moveTo>
                    <a:pt x="10073894" y="0"/>
                  </a:moveTo>
                  <a:lnTo>
                    <a:pt x="13995273" y="3921379"/>
                  </a:lnTo>
                  <a:cubicBezTo>
                    <a:pt x="14107668" y="4033901"/>
                    <a:pt x="14163929" y="4181221"/>
                    <a:pt x="14163929" y="4328414"/>
                  </a:cubicBezTo>
                  <a:lnTo>
                    <a:pt x="14163929" y="4328541"/>
                  </a:lnTo>
                  <a:cubicBezTo>
                    <a:pt x="14163929" y="4475861"/>
                    <a:pt x="14107668" y="4623054"/>
                    <a:pt x="13995273" y="4735449"/>
                  </a:cubicBezTo>
                  <a:lnTo>
                    <a:pt x="9761474" y="8969375"/>
                  </a:lnTo>
                  <a:cubicBezTo>
                    <a:pt x="9649079" y="9081770"/>
                    <a:pt x="9501759" y="9138031"/>
                    <a:pt x="9354439" y="9138031"/>
                  </a:cubicBezTo>
                  <a:cubicBezTo>
                    <a:pt x="9207119" y="9138031"/>
                    <a:pt x="9059799" y="9081770"/>
                    <a:pt x="8947404" y="8969375"/>
                  </a:cubicBezTo>
                  <a:lnTo>
                    <a:pt x="4713478" y="4735576"/>
                  </a:lnTo>
                  <a:cubicBezTo>
                    <a:pt x="4488561" y="4510659"/>
                    <a:pt x="4488561" y="4146296"/>
                    <a:pt x="4713478" y="3921379"/>
                  </a:cubicBezTo>
                  <a:lnTo>
                    <a:pt x="8634857" y="0"/>
                  </a:lnTo>
                  <a:close/>
                </a:path>
              </a:pathLst>
            </a:custGeom>
            <a:blipFill>
              <a:blip r:embed="rId6"/>
              <a:stretch>
                <a:fillRect l="-9843" t="-19567" r="0" b="-8124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2700000">
            <a:off x="8255824" y="-1486930"/>
            <a:ext cx="2973860" cy="2973860"/>
          </a:xfrm>
          <a:custGeom>
            <a:avLst/>
            <a:gdLst/>
            <a:ahLst/>
            <a:cxnLst/>
            <a:rect r="r" b="b" t="t" l="l"/>
            <a:pathLst>
              <a:path h="2973860" w="2973860">
                <a:moveTo>
                  <a:pt x="0" y="0"/>
                </a:moveTo>
                <a:lnTo>
                  <a:pt x="2973860" y="0"/>
                </a:lnTo>
                <a:lnTo>
                  <a:pt x="2973860" y="2973860"/>
                </a:lnTo>
                <a:lnTo>
                  <a:pt x="0" y="29738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2566894" y="2662850"/>
            <a:ext cx="4692406" cy="593557"/>
            <a:chOff x="0" y="0"/>
            <a:chExt cx="1235860" cy="1563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5860" cy="156328"/>
            </a:xfrm>
            <a:custGeom>
              <a:avLst/>
              <a:gdLst/>
              <a:ahLst/>
              <a:cxnLst/>
              <a:rect r="r" b="b" t="t" l="l"/>
              <a:pathLst>
                <a:path h="156328" w="1235860">
                  <a:moveTo>
                    <a:pt x="78164" y="0"/>
                  </a:moveTo>
                  <a:lnTo>
                    <a:pt x="1157696" y="0"/>
                  </a:lnTo>
                  <a:cubicBezTo>
                    <a:pt x="1178426" y="0"/>
                    <a:pt x="1198308" y="8235"/>
                    <a:pt x="1212966" y="22894"/>
                  </a:cubicBezTo>
                  <a:cubicBezTo>
                    <a:pt x="1227625" y="37552"/>
                    <a:pt x="1235860" y="57433"/>
                    <a:pt x="1235860" y="78164"/>
                  </a:cubicBezTo>
                  <a:lnTo>
                    <a:pt x="1235860" y="78164"/>
                  </a:lnTo>
                  <a:cubicBezTo>
                    <a:pt x="1235860" y="98894"/>
                    <a:pt x="1227625" y="118775"/>
                    <a:pt x="1212966" y="133434"/>
                  </a:cubicBezTo>
                  <a:cubicBezTo>
                    <a:pt x="1198308" y="148093"/>
                    <a:pt x="1178426" y="156328"/>
                    <a:pt x="1157696" y="156328"/>
                  </a:cubicBezTo>
                  <a:lnTo>
                    <a:pt x="78164" y="156328"/>
                  </a:lnTo>
                  <a:cubicBezTo>
                    <a:pt x="57433" y="156328"/>
                    <a:pt x="37552" y="148093"/>
                    <a:pt x="22894" y="133434"/>
                  </a:cubicBezTo>
                  <a:cubicBezTo>
                    <a:pt x="8235" y="118775"/>
                    <a:pt x="0" y="98894"/>
                    <a:pt x="0" y="78164"/>
                  </a:cubicBezTo>
                  <a:lnTo>
                    <a:pt x="0" y="78164"/>
                  </a:lnTo>
                  <a:cubicBezTo>
                    <a:pt x="0" y="57433"/>
                    <a:pt x="8235" y="37552"/>
                    <a:pt x="22894" y="22894"/>
                  </a:cubicBezTo>
                  <a:cubicBezTo>
                    <a:pt x="37552" y="8235"/>
                    <a:pt x="57433" y="0"/>
                    <a:pt x="78164" y="0"/>
                  </a:cubicBezTo>
                  <a:close/>
                </a:path>
              </a:pathLst>
            </a:custGeom>
            <a:solidFill>
              <a:srgbClr val="FFC5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35860" cy="18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700000">
            <a:off x="16871623" y="951070"/>
            <a:ext cx="3275867" cy="327596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113439"/>
                  </a:moveTo>
                  <a:lnTo>
                    <a:pt x="812800" y="699361"/>
                  </a:lnTo>
                  <a:cubicBezTo>
                    <a:pt x="812800" y="729447"/>
                    <a:pt x="800848" y="758300"/>
                    <a:pt x="779574" y="779574"/>
                  </a:cubicBezTo>
                  <a:cubicBezTo>
                    <a:pt x="758300" y="800848"/>
                    <a:pt x="729447" y="812800"/>
                    <a:pt x="699361" y="812800"/>
                  </a:cubicBezTo>
                  <a:lnTo>
                    <a:pt x="113439" y="812800"/>
                  </a:lnTo>
                  <a:cubicBezTo>
                    <a:pt x="83353" y="812800"/>
                    <a:pt x="54500" y="800848"/>
                    <a:pt x="33226" y="779574"/>
                  </a:cubicBezTo>
                  <a:cubicBezTo>
                    <a:pt x="11952" y="758300"/>
                    <a:pt x="0" y="729447"/>
                    <a:pt x="0" y="699361"/>
                  </a:cubicBezTo>
                  <a:lnTo>
                    <a:pt x="0" y="113439"/>
                  </a:lnTo>
                  <a:cubicBezTo>
                    <a:pt x="0" y="83353"/>
                    <a:pt x="11952" y="54500"/>
                    <a:pt x="33226" y="33226"/>
                  </a:cubicBezTo>
                  <a:cubicBezTo>
                    <a:pt x="54500" y="11952"/>
                    <a:pt x="83353" y="0"/>
                    <a:pt x="113439" y="0"/>
                  </a:cubicBezTo>
                  <a:lnTo>
                    <a:pt x="699361" y="0"/>
                  </a:lnTo>
                  <a:cubicBezTo>
                    <a:pt x="729447" y="0"/>
                    <a:pt x="758300" y="11952"/>
                    <a:pt x="779574" y="33226"/>
                  </a:cubicBezTo>
                  <a:cubicBezTo>
                    <a:pt x="800848" y="54500"/>
                    <a:pt x="812800" y="83353"/>
                    <a:pt x="812800" y="113439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44861" y="8707514"/>
            <a:ext cx="9198279" cy="1101572"/>
            <a:chOff x="0" y="0"/>
            <a:chExt cx="12264371" cy="146876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264371" cy="1468763"/>
              <a:chOff x="0" y="0"/>
              <a:chExt cx="1864847" cy="22333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864847" cy="223331"/>
              </a:xfrm>
              <a:custGeom>
                <a:avLst/>
                <a:gdLst/>
                <a:ahLst/>
                <a:cxnLst/>
                <a:rect r="r" b="b" t="t" l="l"/>
                <a:pathLst>
                  <a:path h="223331" w="1864847">
                    <a:moveTo>
                      <a:pt x="109340" y="0"/>
                    </a:moveTo>
                    <a:lnTo>
                      <a:pt x="1755507" y="0"/>
                    </a:lnTo>
                    <a:cubicBezTo>
                      <a:pt x="1784506" y="0"/>
                      <a:pt x="1812317" y="11520"/>
                      <a:pt x="1832822" y="32025"/>
                    </a:cubicBezTo>
                    <a:cubicBezTo>
                      <a:pt x="1853328" y="52530"/>
                      <a:pt x="1864847" y="80341"/>
                      <a:pt x="1864847" y="109340"/>
                    </a:cubicBezTo>
                    <a:lnTo>
                      <a:pt x="1864847" y="113991"/>
                    </a:lnTo>
                    <a:cubicBezTo>
                      <a:pt x="1864847" y="174378"/>
                      <a:pt x="1815894" y="223331"/>
                      <a:pt x="1755507" y="223331"/>
                    </a:cubicBezTo>
                    <a:lnTo>
                      <a:pt x="109340" y="223331"/>
                    </a:lnTo>
                    <a:cubicBezTo>
                      <a:pt x="48953" y="223331"/>
                      <a:pt x="0" y="174378"/>
                      <a:pt x="0" y="113991"/>
                    </a:cubicBezTo>
                    <a:lnTo>
                      <a:pt x="0" y="109340"/>
                    </a:lnTo>
                    <a:cubicBezTo>
                      <a:pt x="0" y="48953"/>
                      <a:pt x="48953" y="0"/>
                      <a:pt x="109340" y="0"/>
                    </a:cubicBezTo>
                    <a:close/>
                  </a:path>
                </a:pathLst>
              </a:custGeom>
              <a:solidFill>
                <a:srgbClr val="3C728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66675"/>
                <a:ext cx="1864847" cy="290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4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86635" y="215789"/>
              <a:ext cx="1037184" cy="103718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B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97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520795" y="449949"/>
              <a:ext cx="568864" cy="568864"/>
            </a:xfrm>
            <a:custGeom>
              <a:avLst/>
              <a:gdLst/>
              <a:ahLst/>
              <a:cxnLst/>
              <a:rect r="r" b="b" t="t" l="l"/>
              <a:pathLst>
                <a:path h="568864" w="568864">
                  <a:moveTo>
                    <a:pt x="0" y="0"/>
                  </a:moveTo>
                  <a:lnTo>
                    <a:pt x="568864" y="0"/>
                  </a:lnTo>
                  <a:lnTo>
                    <a:pt x="568864" y="568864"/>
                  </a:lnTo>
                  <a:lnTo>
                    <a:pt x="0" y="568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853032" y="416931"/>
              <a:ext cx="8846811" cy="5635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2"/>
                </a:lnSpc>
              </a:pPr>
              <a:r>
                <a:rPr lang="en-US" b="true" sz="2468" spc="-24" u="sng">
                  <a:solidFill>
                    <a:srgbClr val="FAFBFF"/>
                  </a:solidFill>
                  <a:latin typeface="Open Sans Bold"/>
                  <a:ea typeface="Open Sans Bold"/>
                  <a:cs typeface="Open Sans Bold"/>
                  <a:sym typeface="Open Sans Bold"/>
                  <a:hlinkClick r:id="rId11" tooltip="https://colab.research.google.com/drive/1aKw-rjSzAXx-3LsorL_yWXy27I5v0loK?usp=sharing"/>
                </a:rPr>
                <a:t>Kode Hasil Projek Pembelajaran Mesin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5544916" y="3191610"/>
            <a:ext cx="14287" cy="4513234"/>
          </a:xfrm>
          <a:prstGeom prst="line">
            <a:avLst/>
          </a:prstGeom>
          <a:ln cap="flat" w="28575">
            <a:solidFill>
              <a:srgbClr val="3C728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1845590" y="3191610"/>
            <a:ext cx="0" cy="4513234"/>
          </a:xfrm>
          <a:prstGeom prst="line">
            <a:avLst/>
          </a:prstGeom>
          <a:ln cap="flat" w="28575">
            <a:solidFill>
              <a:srgbClr val="3C728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-224736" y="2662850"/>
            <a:ext cx="4692406" cy="593557"/>
            <a:chOff x="0" y="0"/>
            <a:chExt cx="1235860" cy="1563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5860" cy="156328"/>
            </a:xfrm>
            <a:custGeom>
              <a:avLst/>
              <a:gdLst/>
              <a:ahLst/>
              <a:cxnLst/>
              <a:rect r="r" b="b" t="t" l="l"/>
              <a:pathLst>
                <a:path h="156328" w="1235860">
                  <a:moveTo>
                    <a:pt x="78164" y="0"/>
                  </a:moveTo>
                  <a:lnTo>
                    <a:pt x="1157696" y="0"/>
                  </a:lnTo>
                  <a:cubicBezTo>
                    <a:pt x="1178426" y="0"/>
                    <a:pt x="1198308" y="8235"/>
                    <a:pt x="1212966" y="22894"/>
                  </a:cubicBezTo>
                  <a:cubicBezTo>
                    <a:pt x="1227625" y="37552"/>
                    <a:pt x="1235860" y="57433"/>
                    <a:pt x="1235860" y="78164"/>
                  </a:cubicBezTo>
                  <a:lnTo>
                    <a:pt x="1235860" y="78164"/>
                  </a:lnTo>
                  <a:cubicBezTo>
                    <a:pt x="1235860" y="98894"/>
                    <a:pt x="1227625" y="118775"/>
                    <a:pt x="1212966" y="133434"/>
                  </a:cubicBezTo>
                  <a:cubicBezTo>
                    <a:pt x="1198308" y="148093"/>
                    <a:pt x="1178426" y="156328"/>
                    <a:pt x="1157696" y="156328"/>
                  </a:cubicBezTo>
                  <a:lnTo>
                    <a:pt x="78164" y="156328"/>
                  </a:lnTo>
                  <a:cubicBezTo>
                    <a:pt x="57433" y="156328"/>
                    <a:pt x="37552" y="148093"/>
                    <a:pt x="22894" y="133434"/>
                  </a:cubicBezTo>
                  <a:cubicBezTo>
                    <a:pt x="8235" y="118775"/>
                    <a:pt x="0" y="98894"/>
                    <a:pt x="0" y="78164"/>
                  </a:cubicBezTo>
                  <a:lnTo>
                    <a:pt x="0" y="78164"/>
                  </a:lnTo>
                  <a:cubicBezTo>
                    <a:pt x="0" y="57433"/>
                    <a:pt x="8235" y="37552"/>
                    <a:pt x="22894" y="22894"/>
                  </a:cubicBezTo>
                  <a:cubicBezTo>
                    <a:pt x="37552" y="8235"/>
                    <a:pt x="57433" y="0"/>
                    <a:pt x="78164" y="0"/>
                  </a:cubicBezTo>
                  <a:close/>
                </a:path>
              </a:pathLst>
            </a:custGeom>
            <a:solidFill>
              <a:srgbClr val="FFC53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235860" cy="18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60338" y="3612905"/>
            <a:ext cx="476045" cy="476045"/>
          </a:xfrm>
          <a:custGeom>
            <a:avLst/>
            <a:gdLst/>
            <a:ahLst/>
            <a:cxnLst/>
            <a:rect r="r" b="b" t="t" l="l"/>
            <a:pathLst>
              <a:path h="476045" w="476045">
                <a:moveTo>
                  <a:pt x="0" y="0"/>
                </a:moveTo>
                <a:lnTo>
                  <a:pt x="476045" y="0"/>
                </a:lnTo>
                <a:lnTo>
                  <a:pt x="476045" y="476045"/>
                </a:lnTo>
                <a:lnTo>
                  <a:pt x="0" y="4760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60338" y="4667455"/>
            <a:ext cx="476045" cy="476045"/>
          </a:xfrm>
          <a:custGeom>
            <a:avLst/>
            <a:gdLst/>
            <a:ahLst/>
            <a:cxnLst/>
            <a:rect r="r" b="b" t="t" l="l"/>
            <a:pathLst>
              <a:path h="476045" w="476045">
                <a:moveTo>
                  <a:pt x="0" y="0"/>
                </a:moveTo>
                <a:lnTo>
                  <a:pt x="476045" y="0"/>
                </a:lnTo>
                <a:lnTo>
                  <a:pt x="476045" y="476045"/>
                </a:lnTo>
                <a:lnTo>
                  <a:pt x="0" y="4760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0338" y="5722004"/>
            <a:ext cx="476045" cy="476045"/>
          </a:xfrm>
          <a:custGeom>
            <a:avLst/>
            <a:gdLst/>
            <a:ahLst/>
            <a:cxnLst/>
            <a:rect r="r" b="b" t="t" l="l"/>
            <a:pathLst>
              <a:path h="476045" w="476045">
                <a:moveTo>
                  <a:pt x="0" y="0"/>
                </a:moveTo>
                <a:lnTo>
                  <a:pt x="476045" y="0"/>
                </a:lnTo>
                <a:lnTo>
                  <a:pt x="476045" y="476046"/>
                </a:lnTo>
                <a:lnTo>
                  <a:pt x="0" y="4760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0338" y="6776554"/>
            <a:ext cx="476045" cy="476045"/>
          </a:xfrm>
          <a:custGeom>
            <a:avLst/>
            <a:gdLst/>
            <a:ahLst/>
            <a:cxnLst/>
            <a:rect r="r" b="b" t="t" l="l"/>
            <a:pathLst>
              <a:path h="476045" w="476045">
                <a:moveTo>
                  <a:pt x="0" y="0"/>
                </a:moveTo>
                <a:lnTo>
                  <a:pt x="476045" y="0"/>
                </a:lnTo>
                <a:lnTo>
                  <a:pt x="476045" y="476045"/>
                </a:lnTo>
                <a:lnTo>
                  <a:pt x="0" y="4760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6356194" y="2672375"/>
            <a:ext cx="4692406" cy="593557"/>
            <a:chOff x="0" y="0"/>
            <a:chExt cx="1235860" cy="1563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35860" cy="156328"/>
            </a:xfrm>
            <a:custGeom>
              <a:avLst/>
              <a:gdLst/>
              <a:ahLst/>
              <a:cxnLst/>
              <a:rect r="r" b="b" t="t" l="l"/>
              <a:pathLst>
                <a:path h="156328" w="1235860">
                  <a:moveTo>
                    <a:pt x="78164" y="0"/>
                  </a:moveTo>
                  <a:lnTo>
                    <a:pt x="1157696" y="0"/>
                  </a:lnTo>
                  <a:cubicBezTo>
                    <a:pt x="1178426" y="0"/>
                    <a:pt x="1198308" y="8235"/>
                    <a:pt x="1212966" y="22894"/>
                  </a:cubicBezTo>
                  <a:cubicBezTo>
                    <a:pt x="1227625" y="37552"/>
                    <a:pt x="1235860" y="57433"/>
                    <a:pt x="1235860" y="78164"/>
                  </a:cubicBezTo>
                  <a:lnTo>
                    <a:pt x="1235860" y="78164"/>
                  </a:lnTo>
                  <a:cubicBezTo>
                    <a:pt x="1235860" y="98894"/>
                    <a:pt x="1227625" y="118775"/>
                    <a:pt x="1212966" y="133434"/>
                  </a:cubicBezTo>
                  <a:cubicBezTo>
                    <a:pt x="1198308" y="148093"/>
                    <a:pt x="1178426" y="156328"/>
                    <a:pt x="1157696" y="156328"/>
                  </a:cubicBezTo>
                  <a:lnTo>
                    <a:pt x="78164" y="156328"/>
                  </a:lnTo>
                  <a:cubicBezTo>
                    <a:pt x="57433" y="156328"/>
                    <a:pt x="37552" y="148093"/>
                    <a:pt x="22894" y="133434"/>
                  </a:cubicBezTo>
                  <a:cubicBezTo>
                    <a:pt x="8235" y="118775"/>
                    <a:pt x="0" y="98894"/>
                    <a:pt x="0" y="78164"/>
                  </a:cubicBezTo>
                  <a:lnTo>
                    <a:pt x="0" y="78164"/>
                  </a:lnTo>
                  <a:cubicBezTo>
                    <a:pt x="0" y="57433"/>
                    <a:pt x="8235" y="37552"/>
                    <a:pt x="22894" y="22894"/>
                  </a:cubicBezTo>
                  <a:cubicBezTo>
                    <a:pt x="37552" y="8235"/>
                    <a:pt x="57433" y="0"/>
                    <a:pt x="78164" y="0"/>
                  </a:cubicBezTo>
                  <a:close/>
                </a:path>
              </a:pathLst>
            </a:custGeom>
            <a:solidFill>
              <a:srgbClr val="FFC53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235860" cy="184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graphicFrame>
        <p:nvGraphicFramePr>
          <p:cNvPr name="Object 35" id="35"/>
          <p:cNvGraphicFramePr/>
          <p:nvPr/>
        </p:nvGraphicFramePr>
        <p:xfrm>
          <a:off x="5776568" y="3612905"/>
          <a:ext cx="7586157" cy="4274588"/>
        </p:xfrm>
        <a:graphic>
          <a:graphicData uri="http://schemas.openxmlformats.org/presentationml/2006/ole">
            <p:oleObj imgW="9105900" imgH="5791200" r:id="rId1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6" id="36"/>
          <p:cNvSpPr txBox="true"/>
          <p:nvPr/>
        </p:nvSpPr>
        <p:spPr>
          <a:xfrm rot="0">
            <a:off x="836697" y="3555755"/>
            <a:ext cx="4047191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b="true" sz="1900" spc="-19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Ditemukan 1.875 komentar dengan Unicode Obfuscation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36697" y="363360"/>
            <a:ext cx="7609006" cy="187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spc="-255" b="true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Ringkasan Hasil Analisis &amp; Evaluasi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36383" y="2757698"/>
            <a:ext cx="3103517" cy="4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2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Hasil Analisis</a:t>
            </a:r>
            <a:r>
              <a:rPr lang="en-US" b="true" sz="2400" spc="-24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 Data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6697" y="4626365"/>
            <a:ext cx="4047191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b="true" sz="1900" spc="-19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Ditemukan 1.665 komentar dengan substitusi angka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36697" y="5630300"/>
            <a:ext cx="4047191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spc="-19" b="true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</a:t>
            </a:r>
            <a:r>
              <a:rPr lang="en-US" b="true" sz="1900" spc="-19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eyword dominan: alexis17, gacor, wd, maxwin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36697" y="6634234"/>
            <a:ext cx="4047191" cy="107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spc="-19" b="true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</a:t>
            </a:r>
            <a:r>
              <a:rPr lang="en-US" b="true" sz="1900" spc="-19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 Preprocessing berhasil memulihkan keyword yang tersamarkan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513116" y="2757698"/>
            <a:ext cx="2378562" cy="4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2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Hasil Klasifikasi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67975" y="2757698"/>
            <a:ext cx="2131629" cy="403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spc="-24" b="true">
                <a:solidFill>
                  <a:srgbClr val="373737"/>
                </a:solidFill>
                <a:latin typeface="Mont Bold"/>
                <a:ea typeface="Mont Bold"/>
                <a:cs typeface="Mont Bold"/>
                <a:sym typeface="Mont Bold"/>
              </a:rPr>
              <a:t>Hasil Evaluasi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2059903" y="3542450"/>
            <a:ext cx="476045" cy="476045"/>
          </a:xfrm>
          <a:custGeom>
            <a:avLst/>
            <a:gdLst/>
            <a:ahLst/>
            <a:cxnLst/>
            <a:rect r="r" b="b" t="t" l="l"/>
            <a:pathLst>
              <a:path h="476045" w="476045">
                <a:moveTo>
                  <a:pt x="0" y="0"/>
                </a:moveTo>
                <a:lnTo>
                  <a:pt x="476045" y="0"/>
                </a:lnTo>
                <a:lnTo>
                  <a:pt x="476045" y="476046"/>
                </a:lnTo>
                <a:lnTo>
                  <a:pt x="0" y="4760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059903" y="4597000"/>
            <a:ext cx="476045" cy="476045"/>
          </a:xfrm>
          <a:custGeom>
            <a:avLst/>
            <a:gdLst/>
            <a:ahLst/>
            <a:cxnLst/>
            <a:rect r="r" b="b" t="t" l="l"/>
            <a:pathLst>
              <a:path h="476045" w="476045">
                <a:moveTo>
                  <a:pt x="0" y="0"/>
                </a:moveTo>
                <a:lnTo>
                  <a:pt x="476045" y="0"/>
                </a:lnTo>
                <a:lnTo>
                  <a:pt x="476045" y="476045"/>
                </a:lnTo>
                <a:lnTo>
                  <a:pt x="0" y="4760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059903" y="5651549"/>
            <a:ext cx="476045" cy="476045"/>
          </a:xfrm>
          <a:custGeom>
            <a:avLst/>
            <a:gdLst/>
            <a:ahLst/>
            <a:cxnLst/>
            <a:rect r="r" b="b" t="t" l="l"/>
            <a:pathLst>
              <a:path h="476045" w="476045">
                <a:moveTo>
                  <a:pt x="0" y="0"/>
                </a:moveTo>
                <a:lnTo>
                  <a:pt x="476045" y="0"/>
                </a:lnTo>
                <a:lnTo>
                  <a:pt x="476045" y="476046"/>
                </a:lnTo>
                <a:lnTo>
                  <a:pt x="0" y="4760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2736263" y="3591950"/>
            <a:ext cx="4047191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spc="-19" b="true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b="true" sz="1900" spc="-19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ean F1 Cross Validation = 95,85%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736263" y="4452118"/>
            <a:ext cx="3456870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spc="-19" b="true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</a:t>
            </a:r>
            <a:r>
              <a:rPr lang="en-US" b="true" sz="1900" spc="-19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untime tercepat = SVM (±0,02 detik)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736263" y="5559845"/>
            <a:ext cx="4047191" cy="70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spc="-19" b="true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Err</a:t>
            </a:r>
            <a:r>
              <a:rPr lang="en-US" b="true" sz="1900" spc="-19">
                <a:solidFill>
                  <a:srgbClr val="73737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 paling sedikit = SVM Advanced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35598" y="0"/>
            <a:ext cx="7852402" cy="8304104"/>
            <a:chOff x="0" y="0"/>
            <a:chExt cx="8642769" cy="91399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42731" cy="9139936"/>
            </a:xfrm>
            <a:custGeom>
              <a:avLst/>
              <a:gdLst/>
              <a:ahLst/>
              <a:cxnLst/>
              <a:rect r="r" b="b" t="t" l="l"/>
              <a:pathLst>
                <a:path h="9139936" w="8642731">
                  <a:moveTo>
                    <a:pt x="5547868" y="0"/>
                  </a:moveTo>
                  <a:lnTo>
                    <a:pt x="3933317" y="1614424"/>
                  </a:lnTo>
                  <a:cubicBezTo>
                    <a:pt x="3748532" y="1799336"/>
                    <a:pt x="3748532" y="2099056"/>
                    <a:pt x="3933317" y="2283968"/>
                  </a:cubicBezTo>
                  <a:lnTo>
                    <a:pt x="6855587" y="5206365"/>
                  </a:lnTo>
                  <a:cubicBezTo>
                    <a:pt x="6948043" y="5298821"/>
                    <a:pt x="7069201" y="5345049"/>
                    <a:pt x="7190359" y="5345049"/>
                  </a:cubicBezTo>
                  <a:cubicBezTo>
                    <a:pt x="7311517" y="5345049"/>
                    <a:pt x="7432675" y="5298821"/>
                    <a:pt x="7525131" y="5206365"/>
                  </a:cubicBezTo>
                  <a:lnTo>
                    <a:pt x="8642731" y="4088765"/>
                  </a:lnTo>
                  <a:lnTo>
                    <a:pt x="8642731" y="0"/>
                  </a:lnTo>
                  <a:close/>
                  <a:moveTo>
                    <a:pt x="3395853" y="2348357"/>
                  </a:moveTo>
                  <a:cubicBezTo>
                    <a:pt x="3274568" y="2348357"/>
                    <a:pt x="3153537" y="2394585"/>
                    <a:pt x="3061081" y="2487041"/>
                  </a:cubicBezTo>
                  <a:lnTo>
                    <a:pt x="138684" y="5409311"/>
                  </a:lnTo>
                  <a:cubicBezTo>
                    <a:pt x="-46228" y="5594223"/>
                    <a:pt x="-46228" y="5893943"/>
                    <a:pt x="138684" y="6078855"/>
                  </a:cubicBezTo>
                  <a:lnTo>
                    <a:pt x="3061081" y="9001252"/>
                  </a:lnTo>
                  <a:cubicBezTo>
                    <a:pt x="3153410" y="9093581"/>
                    <a:pt x="3274314" y="9139809"/>
                    <a:pt x="3395218" y="9139936"/>
                  </a:cubicBezTo>
                  <a:lnTo>
                    <a:pt x="3396488" y="9139936"/>
                  </a:lnTo>
                  <a:cubicBezTo>
                    <a:pt x="3517392" y="9139809"/>
                    <a:pt x="3638296" y="9093581"/>
                    <a:pt x="3730625" y="9001252"/>
                  </a:cubicBezTo>
                  <a:lnTo>
                    <a:pt x="6652895" y="6078855"/>
                  </a:lnTo>
                  <a:cubicBezTo>
                    <a:pt x="6837807" y="5893943"/>
                    <a:pt x="6837807" y="5594223"/>
                    <a:pt x="6652895" y="5409311"/>
                  </a:cubicBezTo>
                  <a:lnTo>
                    <a:pt x="3730625" y="2487041"/>
                  </a:lnTo>
                  <a:cubicBezTo>
                    <a:pt x="3638169" y="2394585"/>
                    <a:pt x="3516884" y="2348357"/>
                    <a:pt x="3395853" y="2348357"/>
                  </a:cubicBezTo>
                  <a:close/>
                </a:path>
              </a:pathLst>
            </a:custGeom>
            <a:blipFill>
              <a:blip r:embed="rId3"/>
              <a:stretch>
                <a:fillRect l="-66365" t="0" r="-40239" b="-30162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509105" y="6594378"/>
            <a:ext cx="5415851" cy="3982743"/>
          </a:xfrm>
          <a:custGeom>
            <a:avLst/>
            <a:gdLst/>
            <a:ahLst/>
            <a:cxnLst/>
            <a:rect r="r" b="b" t="t" l="l"/>
            <a:pathLst>
              <a:path h="3982743" w="5415851">
                <a:moveTo>
                  <a:pt x="0" y="0"/>
                </a:moveTo>
                <a:lnTo>
                  <a:pt x="5415851" y="0"/>
                </a:lnTo>
                <a:lnTo>
                  <a:pt x="5415851" y="3982743"/>
                </a:lnTo>
                <a:lnTo>
                  <a:pt x="0" y="3982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2000"/>
            </a:blip>
            <a:stretch>
              <a:fillRect l="0" t="0" r="0" b="-3377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70648" y="2671191"/>
            <a:ext cx="1894285" cy="1894285"/>
          </a:xfrm>
          <a:custGeom>
            <a:avLst/>
            <a:gdLst/>
            <a:ahLst/>
            <a:cxnLst/>
            <a:rect r="r" b="b" t="t" l="l"/>
            <a:pathLst>
              <a:path h="1894285" w="1894285">
                <a:moveTo>
                  <a:pt x="0" y="0"/>
                </a:moveTo>
                <a:lnTo>
                  <a:pt x="1894286" y="0"/>
                </a:lnTo>
                <a:lnTo>
                  <a:pt x="1894286" y="1894285"/>
                </a:lnTo>
                <a:lnTo>
                  <a:pt x="0" y="18942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8999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10626" y="3011169"/>
            <a:ext cx="1214330" cy="121433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F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16135198" y="5017823"/>
            <a:ext cx="4605373" cy="460551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80691"/>
                  </a:moveTo>
                  <a:lnTo>
                    <a:pt x="812800" y="732109"/>
                  </a:lnTo>
                  <a:cubicBezTo>
                    <a:pt x="812800" y="776673"/>
                    <a:pt x="776673" y="812800"/>
                    <a:pt x="732109" y="812800"/>
                  </a:cubicBezTo>
                  <a:lnTo>
                    <a:pt x="80691" y="812800"/>
                  </a:lnTo>
                  <a:cubicBezTo>
                    <a:pt x="36127" y="812800"/>
                    <a:pt x="0" y="776673"/>
                    <a:pt x="0" y="732109"/>
                  </a:cubicBezTo>
                  <a:lnTo>
                    <a:pt x="0" y="80691"/>
                  </a:lnTo>
                  <a:cubicBezTo>
                    <a:pt x="0" y="36127"/>
                    <a:pt x="36127" y="0"/>
                    <a:pt x="80691" y="0"/>
                  </a:cubicBezTo>
                  <a:lnTo>
                    <a:pt x="732109" y="0"/>
                  </a:lnTo>
                  <a:cubicBezTo>
                    <a:pt x="776673" y="0"/>
                    <a:pt x="812800" y="36127"/>
                    <a:pt x="812800" y="80691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54042" y="2020123"/>
            <a:ext cx="8932958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spc="-255" b="true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Referensi</a:t>
            </a:r>
          </a:p>
        </p:txBody>
      </p:sp>
      <p:grpSp>
        <p:nvGrpSpPr>
          <p:cNvPr name="Group 14" id="14"/>
          <p:cNvGrpSpPr/>
          <p:nvPr/>
        </p:nvGrpSpPr>
        <p:grpSpPr>
          <a:xfrm rot="5400000">
            <a:off x="-480994" y="6060534"/>
            <a:ext cx="4605232" cy="935159"/>
            <a:chOff x="0" y="0"/>
            <a:chExt cx="1212901" cy="2462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2901" cy="246297"/>
            </a:xfrm>
            <a:custGeom>
              <a:avLst/>
              <a:gdLst/>
              <a:ahLst/>
              <a:cxnLst/>
              <a:rect r="r" b="b" t="t" l="l"/>
              <a:pathLst>
                <a:path h="246297" w="1212901">
                  <a:moveTo>
                    <a:pt x="123149" y="0"/>
                  </a:moveTo>
                  <a:lnTo>
                    <a:pt x="1089752" y="0"/>
                  </a:lnTo>
                  <a:cubicBezTo>
                    <a:pt x="1157765" y="0"/>
                    <a:pt x="1212901" y="55135"/>
                    <a:pt x="1212901" y="123149"/>
                  </a:cubicBezTo>
                  <a:lnTo>
                    <a:pt x="1212901" y="123149"/>
                  </a:lnTo>
                  <a:cubicBezTo>
                    <a:pt x="1212901" y="191162"/>
                    <a:pt x="1157765" y="246297"/>
                    <a:pt x="1089752" y="246297"/>
                  </a:cubicBezTo>
                  <a:lnTo>
                    <a:pt x="123149" y="246297"/>
                  </a:lnTo>
                  <a:cubicBezTo>
                    <a:pt x="55135" y="246297"/>
                    <a:pt x="0" y="191162"/>
                    <a:pt x="0" y="123149"/>
                  </a:cubicBezTo>
                  <a:lnTo>
                    <a:pt x="0" y="123149"/>
                  </a:lnTo>
                  <a:cubicBezTo>
                    <a:pt x="0" y="55135"/>
                    <a:pt x="55135" y="0"/>
                    <a:pt x="123149" y="0"/>
                  </a:cubicBezTo>
                  <a:close/>
                </a:path>
              </a:pathLst>
            </a:custGeom>
            <a:solidFill>
              <a:srgbClr val="3C728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212901" cy="312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4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2700000">
            <a:off x="-487063" y="-1471273"/>
            <a:ext cx="3118343" cy="4049343"/>
          </a:xfrm>
          <a:custGeom>
            <a:avLst/>
            <a:gdLst/>
            <a:ahLst/>
            <a:cxnLst/>
            <a:rect r="r" b="b" t="t" l="l"/>
            <a:pathLst>
              <a:path h="4049343" w="3118343">
                <a:moveTo>
                  <a:pt x="0" y="0"/>
                </a:moveTo>
                <a:lnTo>
                  <a:pt x="3118343" y="0"/>
                </a:lnTo>
                <a:lnTo>
                  <a:pt x="3118343" y="4049343"/>
                </a:lnTo>
                <a:lnTo>
                  <a:pt x="0" y="4049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9530" t="-30552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560198" y="7290427"/>
            <a:ext cx="522848" cy="553278"/>
          </a:xfrm>
          <a:custGeom>
            <a:avLst/>
            <a:gdLst/>
            <a:ahLst/>
            <a:cxnLst/>
            <a:rect r="r" b="b" t="t" l="l"/>
            <a:pathLst>
              <a:path h="553278" w="522848">
                <a:moveTo>
                  <a:pt x="0" y="0"/>
                </a:moveTo>
                <a:lnTo>
                  <a:pt x="522848" y="0"/>
                </a:lnTo>
                <a:lnTo>
                  <a:pt x="522848" y="553278"/>
                </a:lnTo>
                <a:lnTo>
                  <a:pt x="0" y="5532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0198" y="5238750"/>
            <a:ext cx="522848" cy="522848"/>
          </a:xfrm>
          <a:custGeom>
            <a:avLst/>
            <a:gdLst/>
            <a:ahLst/>
            <a:cxnLst/>
            <a:rect r="r" b="b" t="t" l="l"/>
            <a:pathLst>
              <a:path h="522848" w="522848">
                <a:moveTo>
                  <a:pt x="0" y="0"/>
                </a:moveTo>
                <a:lnTo>
                  <a:pt x="522848" y="0"/>
                </a:lnTo>
                <a:lnTo>
                  <a:pt x="522848" y="522848"/>
                </a:lnTo>
                <a:lnTo>
                  <a:pt x="0" y="522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104238" y="3303706"/>
            <a:ext cx="427106" cy="629254"/>
          </a:xfrm>
          <a:custGeom>
            <a:avLst/>
            <a:gdLst/>
            <a:ahLst/>
            <a:cxnLst/>
            <a:rect r="r" b="b" t="t" l="l"/>
            <a:pathLst>
              <a:path h="629254" w="427106">
                <a:moveTo>
                  <a:pt x="0" y="0"/>
                </a:moveTo>
                <a:lnTo>
                  <a:pt x="427106" y="0"/>
                </a:lnTo>
                <a:lnTo>
                  <a:pt x="427106" y="629254"/>
                </a:lnTo>
                <a:lnTo>
                  <a:pt x="0" y="629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824889" y="3875810"/>
            <a:ext cx="7462111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Samuel, &amp; Kristiadi, D. P. (2025). Deteksi teks promosi judi online menggunakan AI dengan kombinasi NLP dan deep learning. SINTEK, 5(2). https://doi.org/10.56995/sintek.v5i2.179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53657" y="5704448"/>
            <a:ext cx="8007033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2100" spc="-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erdana, R. B., et al. (2024). Detecting online gambling promotions on Indonesian Twitter using text mining algorithm. International Journal of Advanced Computer Science and Applications, 15(8). https://doi.org/10.14569/IJACSA.2024.0150893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53657" y="7529438"/>
            <a:ext cx="8007033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spc="-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</a:t>
            </a:r>
            <a:r>
              <a:rPr lang="en-US" sz="2100" spc="-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azab, A., et al. (2022). Detection of obfuscated malicious JavaScript code. Future Internet, 14(8), 217. https://doi.org/10.3390/fi14080217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92157" y="-720007"/>
            <a:ext cx="8188962" cy="4370902"/>
          </a:xfrm>
          <a:custGeom>
            <a:avLst/>
            <a:gdLst/>
            <a:ahLst/>
            <a:cxnLst/>
            <a:rect r="r" b="b" t="t" l="l"/>
            <a:pathLst>
              <a:path h="4370902" w="8188962">
                <a:moveTo>
                  <a:pt x="0" y="0"/>
                </a:moveTo>
                <a:lnTo>
                  <a:pt x="8188962" y="0"/>
                </a:lnTo>
                <a:lnTo>
                  <a:pt x="8188962" y="4370902"/>
                </a:lnTo>
                <a:lnTo>
                  <a:pt x="0" y="437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0" t="-4613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572081" y="0"/>
            <a:ext cx="5086689" cy="1605950"/>
            <a:chOff x="0" y="0"/>
            <a:chExt cx="6782252" cy="2141266"/>
          </a:xfrm>
        </p:grpSpPr>
        <p:sp>
          <p:nvSpPr>
            <p:cNvPr name="Freeform 5" id="5"/>
            <p:cNvSpPr/>
            <p:nvPr/>
          </p:nvSpPr>
          <p:spPr>
            <a:xfrm flipH="false" flipV="false" rot="2700000">
              <a:off x="288329" y="418633"/>
              <a:ext cx="1392174" cy="1392174"/>
            </a:xfrm>
            <a:custGeom>
              <a:avLst/>
              <a:gdLst/>
              <a:ahLst/>
              <a:cxnLst/>
              <a:rect r="r" b="b" t="t" l="l"/>
              <a:pathLst>
                <a:path h="1392174" w="1392174">
                  <a:moveTo>
                    <a:pt x="0" y="0"/>
                  </a:moveTo>
                  <a:lnTo>
                    <a:pt x="1392174" y="0"/>
                  </a:lnTo>
                  <a:lnTo>
                    <a:pt x="1392174" y="1392175"/>
                  </a:lnTo>
                  <a:lnTo>
                    <a:pt x="0" y="1392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6" id="6"/>
            <p:cNvSpPr/>
            <p:nvPr/>
          </p:nvSpPr>
          <p:spPr>
            <a:xfrm flipH="false" flipV="false" rot="2700000">
              <a:off x="5101749" y="460763"/>
              <a:ext cx="1392174" cy="1392174"/>
            </a:xfrm>
            <a:custGeom>
              <a:avLst/>
              <a:gdLst/>
              <a:ahLst/>
              <a:cxnLst/>
              <a:rect r="r" b="b" t="t" l="l"/>
              <a:pathLst>
                <a:path h="1392174" w="1392174">
                  <a:moveTo>
                    <a:pt x="0" y="0"/>
                  </a:moveTo>
                  <a:lnTo>
                    <a:pt x="1392174" y="0"/>
                  </a:lnTo>
                  <a:lnTo>
                    <a:pt x="1392174" y="1392174"/>
                  </a:lnTo>
                  <a:lnTo>
                    <a:pt x="0" y="13921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2700000">
              <a:off x="2699599" y="418633"/>
              <a:ext cx="1392174" cy="1392174"/>
            </a:xfrm>
            <a:custGeom>
              <a:avLst/>
              <a:gdLst/>
              <a:ahLst/>
              <a:cxnLst/>
              <a:rect r="r" b="b" t="t" l="l"/>
              <a:pathLst>
                <a:path h="1392174" w="1392174">
                  <a:moveTo>
                    <a:pt x="0" y="0"/>
                  </a:moveTo>
                  <a:lnTo>
                    <a:pt x="1392174" y="0"/>
                  </a:lnTo>
                  <a:lnTo>
                    <a:pt x="1392174" y="1392175"/>
                  </a:lnTo>
                  <a:lnTo>
                    <a:pt x="0" y="1392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8" id="8"/>
            <p:cNvGrpSpPr/>
            <p:nvPr/>
          </p:nvGrpSpPr>
          <p:grpSpPr>
            <a:xfrm rot="0">
              <a:off x="43327" y="0"/>
              <a:ext cx="1728571" cy="1728571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72623" y="72623"/>
                <a:ext cx="667554" cy="667554"/>
              </a:xfrm>
              <a:custGeom>
                <a:avLst/>
                <a:gdLst/>
                <a:ahLst/>
                <a:cxnLst/>
                <a:rect r="r" b="b" t="t" l="l"/>
                <a:pathLst>
                  <a:path h="667554" w="667554">
                    <a:moveTo>
                      <a:pt x="457752" y="51352"/>
                    </a:moveTo>
                    <a:lnTo>
                      <a:pt x="616202" y="209802"/>
                    </a:lnTo>
                    <a:cubicBezTo>
                      <a:pt x="649082" y="242682"/>
                      <a:pt x="667554" y="287277"/>
                      <a:pt x="667554" y="333777"/>
                    </a:cubicBezTo>
                    <a:cubicBezTo>
                      <a:pt x="667554" y="380277"/>
                      <a:pt x="649082" y="424872"/>
                      <a:pt x="616202" y="457752"/>
                    </a:cubicBezTo>
                    <a:lnTo>
                      <a:pt x="457752" y="616202"/>
                    </a:lnTo>
                    <a:cubicBezTo>
                      <a:pt x="424872" y="649082"/>
                      <a:pt x="380277" y="667554"/>
                      <a:pt x="333777" y="667554"/>
                    </a:cubicBezTo>
                    <a:cubicBezTo>
                      <a:pt x="287277" y="667554"/>
                      <a:pt x="242682" y="649082"/>
                      <a:pt x="209802" y="616202"/>
                    </a:cubicBezTo>
                    <a:lnTo>
                      <a:pt x="51352" y="457752"/>
                    </a:lnTo>
                    <a:cubicBezTo>
                      <a:pt x="18472" y="424872"/>
                      <a:pt x="0" y="380277"/>
                      <a:pt x="0" y="333777"/>
                    </a:cubicBezTo>
                    <a:cubicBezTo>
                      <a:pt x="0" y="287277"/>
                      <a:pt x="18472" y="242682"/>
                      <a:pt x="51352" y="209802"/>
                    </a:cubicBezTo>
                    <a:lnTo>
                      <a:pt x="209802" y="51352"/>
                    </a:lnTo>
                    <a:cubicBezTo>
                      <a:pt x="242682" y="18472"/>
                      <a:pt x="287277" y="0"/>
                      <a:pt x="333777" y="0"/>
                    </a:cubicBezTo>
                    <a:cubicBezTo>
                      <a:pt x="380277" y="0"/>
                      <a:pt x="424872" y="18472"/>
                      <a:pt x="457752" y="51352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-32519" t="-4978" r="-32519" b="-4978"/>
                </a:stretch>
              </a:blip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4857486" y="0"/>
              <a:ext cx="1728571" cy="1728571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72623" y="72623"/>
                <a:ext cx="667554" cy="667554"/>
              </a:xfrm>
              <a:custGeom>
                <a:avLst/>
                <a:gdLst/>
                <a:ahLst/>
                <a:cxnLst/>
                <a:rect r="r" b="b" t="t" l="l"/>
                <a:pathLst>
                  <a:path h="667554" w="667554">
                    <a:moveTo>
                      <a:pt x="457752" y="51352"/>
                    </a:moveTo>
                    <a:lnTo>
                      <a:pt x="616202" y="209802"/>
                    </a:lnTo>
                    <a:cubicBezTo>
                      <a:pt x="649082" y="242682"/>
                      <a:pt x="667554" y="287277"/>
                      <a:pt x="667554" y="333777"/>
                    </a:cubicBezTo>
                    <a:cubicBezTo>
                      <a:pt x="667554" y="380277"/>
                      <a:pt x="649082" y="424872"/>
                      <a:pt x="616202" y="457752"/>
                    </a:cubicBezTo>
                    <a:lnTo>
                      <a:pt x="457752" y="616202"/>
                    </a:lnTo>
                    <a:cubicBezTo>
                      <a:pt x="424872" y="649082"/>
                      <a:pt x="380277" y="667554"/>
                      <a:pt x="333777" y="667554"/>
                    </a:cubicBezTo>
                    <a:cubicBezTo>
                      <a:pt x="287277" y="667554"/>
                      <a:pt x="242682" y="649082"/>
                      <a:pt x="209802" y="616202"/>
                    </a:cubicBezTo>
                    <a:lnTo>
                      <a:pt x="51352" y="457752"/>
                    </a:lnTo>
                    <a:cubicBezTo>
                      <a:pt x="18472" y="424872"/>
                      <a:pt x="0" y="380277"/>
                      <a:pt x="0" y="333777"/>
                    </a:cubicBezTo>
                    <a:cubicBezTo>
                      <a:pt x="0" y="287277"/>
                      <a:pt x="18472" y="242682"/>
                      <a:pt x="51352" y="209802"/>
                    </a:cubicBezTo>
                    <a:lnTo>
                      <a:pt x="209802" y="51352"/>
                    </a:lnTo>
                    <a:cubicBezTo>
                      <a:pt x="242682" y="18472"/>
                      <a:pt x="287277" y="0"/>
                      <a:pt x="333777" y="0"/>
                    </a:cubicBezTo>
                    <a:cubicBezTo>
                      <a:pt x="380277" y="0"/>
                      <a:pt x="424872" y="18472"/>
                      <a:pt x="457752" y="51352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42401" t="-4978" r="-42401" b="-4978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451355" y="0"/>
              <a:ext cx="1728571" cy="1728571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60000">
                <a:off x="72647" y="72647"/>
                <a:ext cx="667506" cy="667506"/>
              </a:xfrm>
              <a:custGeom>
                <a:avLst/>
                <a:gdLst/>
                <a:ahLst/>
                <a:cxnLst/>
                <a:rect r="r" b="b" t="t" l="l"/>
                <a:pathLst>
                  <a:path h="667506" w="667506">
                    <a:moveTo>
                      <a:pt x="452781" y="49208"/>
                    </a:moveTo>
                    <a:lnTo>
                      <a:pt x="613971" y="204867"/>
                    </a:lnTo>
                    <a:cubicBezTo>
                      <a:pt x="647420" y="237169"/>
                      <a:pt x="666667" y="281435"/>
                      <a:pt x="667479" y="327928"/>
                    </a:cubicBezTo>
                    <a:cubicBezTo>
                      <a:pt x="668291" y="374421"/>
                      <a:pt x="650600" y="419331"/>
                      <a:pt x="618298" y="452781"/>
                    </a:cubicBezTo>
                    <a:lnTo>
                      <a:pt x="462639" y="613971"/>
                    </a:lnTo>
                    <a:cubicBezTo>
                      <a:pt x="430337" y="647420"/>
                      <a:pt x="386071" y="666667"/>
                      <a:pt x="339578" y="667479"/>
                    </a:cubicBezTo>
                    <a:cubicBezTo>
                      <a:pt x="293085" y="668291"/>
                      <a:pt x="248175" y="650600"/>
                      <a:pt x="214725" y="618298"/>
                    </a:cubicBezTo>
                    <a:lnTo>
                      <a:pt x="53535" y="462639"/>
                    </a:lnTo>
                    <a:cubicBezTo>
                      <a:pt x="20086" y="430337"/>
                      <a:pt x="839" y="386071"/>
                      <a:pt x="27" y="339578"/>
                    </a:cubicBezTo>
                    <a:cubicBezTo>
                      <a:pt x="-785" y="293085"/>
                      <a:pt x="16906" y="248175"/>
                      <a:pt x="49208" y="214725"/>
                    </a:cubicBezTo>
                    <a:lnTo>
                      <a:pt x="204867" y="53535"/>
                    </a:lnTo>
                    <a:cubicBezTo>
                      <a:pt x="237169" y="20086"/>
                      <a:pt x="281435" y="839"/>
                      <a:pt x="327928" y="27"/>
                    </a:cubicBezTo>
                    <a:cubicBezTo>
                      <a:pt x="374421" y="-785"/>
                      <a:pt x="419331" y="16906"/>
                      <a:pt x="452781" y="49208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-71862" t="-10874" r="-10874" b="-10874"/>
                </a:stretch>
              </a:blipFill>
            </p:spPr>
          </p:sp>
        </p:grpSp>
      </p:grpSp>
      <p:grpSp>
        <p:nvGrpSpPr>
          <p:cNvPr name="Group 14" id="14"/>
          <p:cNvGrpSpPr/>
          <p:nvPr/>
        </p:nvGrpSpPr>
        <p:grpSpPr>
          <a:xfrm rot="0">
            <a:off x="795391" y="3650895"/>
            <a:ext cx="1274674" cy="125191"/>
            <a:chOff x="0" y="0"/>
            <a:chExt cx="335717" cy="329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5717" cy="32972"/>
            </a:xfrm>
            <a:custGeom>
              <a:avLst/>
              <a:gdLst/>
              <a:ahLst/>
              <a:cxnLst/>
              <a:rect r="r" b="b" t="t" l="l"/>
              <a:pathLst>
                <a:path h="32972" w="335717">
                  <a:moveTo>
                    <a:pt x="16486" y="0"/>
                  </a:moveTo>
                  <a:lnTo>
                    <a:pt x="319230" y="0"/>
                  </a:lnTo>
                  <a:cubicBezTo>
                    <a:pt x="328336" y="0"/>
                    <a:pt x="335717" y="7381"/>
                    <a:pt x="335717" y="16486"/>
                  </a:cubicBezTo>
                  <a:lnTo>
                    <a:pt x="335717" y="16486"/>
                  </a:lnTo>
                  <a:cubicBezTo>
                    <a:pt x="335717" y="20858"/>
                    <a:pt x="333980" y="25052"/>
                    <a:pt x="330888" y="28144"/>
                  </a:cubicBezTo>
                  <a:cubicBezTo>
                    <a:pt x="327796" y="31235"/>
                    <a:pt x="323603" y="32972"/>
                    <a:pt x="319230" y="32972"/>
                  </a:cubicBezTo>
                  <a:lnTo>
                    <a:pt x="16486" y="32972"/>
                  </a:lnTo>
                  <a:cubicBezTo>
                    <a:pt x="7381" y="32972"/>
                    <a:pt x="0" y="25591"/>
                    <a:pt x="0" y="16486"/>
                  </a:cubicBezTo>
                  <a:lnTo>
                    <a:pt x="0" y="16486"/>
                  </a:lnTo>
                  <a:cubicBezTo>
                    <a:pt x="0" y="7381"/>
                    <a:pt x="7381" y="0"/>
                    <a:pt x="16486" y="0"/>
                  </a:cubicBezTo>
                  <a:close/>
                </a:path>
              </a:pathLst>
            </a:custGeom>
            <a:solidFill>
              <a:srgbClr val="3C728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35717" cy="61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06445" y="3525704"/>
            <a:ext cx="1274674" cy="125191"/>
            <a:chOff x="0" y="0"/>
            <a:chExt cx="335717" cy="329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5717" cy="32972"/>
            </a:xfrm>
            <a:custGeom>
              <a:avLst/>
              <a:gdLst/>
              <a:ahLst/>
              <a:cxnLst/>
              <a:rect r="r" b="b" t="t" l="l"/>
              <a:pathLst>
                <a:path h="32972" w="335717">
                  <a:moveTo>
                    <a:pt x="16486" y="0"/>
                  </a:moveTo>
                  <a:lnTo>
                    <a:pt x="319230" y="0"/>
                  </a:lnTo>
                  <a:cubicBezTo>
                    <a:pt x="328336" y="0"/>
                    <a:pt x="335717" y="7381"/>
                    <a:pt x="335717" y="16486"/>
                  </a:cubicBezTo>
                  <a:lnTo>
                    <a:pt x="335717" y="16486"/>
                  </a:lnTo>
                  <a:cubicBezTo>
                    <a:pt x="335717" y="20858"/>
                    <a:pt x="333980" y="25052"/>
                    <a:pt x="330888" y="28144"/>
                  </a:cubicBezTo>
                  <a:cubicBezTo>
                    <a:pt x="327796" y="31235"/>
                    <a:pt x="323603" y="32972"/>
                    <a:pt x="319230" y="32972"/>
                  </a:cubicBezTo>
                  <a:lnTo>
                    <a:pt x="16486" y="32972"/>
                  </a:lnTo>
                  <a:cubicBezTo>
                    <a:pt x="7381" y="32972"/>
                    <a:pt x="0" y="25591"/>
                    <a:pt x="0" y="16486"/>
                  </a:cubicBezTo>
                  <a:lnTo>
                    <a:pt x="0" y="16486"/>
                  </a:lnTo>
                  <a:cubicBezTo>
                    <a:pt x="0" y="7381"/>
                    <a:pt x="7381" y="0"/>
                    <a:pt x="16486" y="0"/>
                  </a:cubicBezTo>
                  <a:close/>
                </a:path>
              </a:pathLst>
            </a:custGeom>
            <a:solidFill>
              <a:srgbClr val="3C7289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35717" cy="61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7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2700000">
            <a:off x="-993347" y="-1331538"/>
            <a:ext cx="3577476" cy="3577476"/>
          </a:xfrm>
          <a:custGeom>
            <a:avLst/>
            <a:gdLst/>
            <a:ahLst/>
            <a:cxnLst/>
            <a:rect r="r" b="b" t="t" l="l"/>
            <a:pathLst>
              <a:path h="3577476" w="3577476">
                <a:moveTo>
                  <a:pt x="0" y="0"/>
                </a:moveTo>
                <a:lnTo>
                  <a:pt x="3577476" y="0"/>
                </a:lnTo>
                <a:lnTo>
                  <a:pt x="3577476" y="3577476"/>
                </a:lnTo>
                <a:lnTo>
                  <a:pt x="0" y="3577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2700000">
            <a:off x="16698483" y="7841487"/>
            <a:ext cx="3179035" cy="3083664"/>
          </a:xfrm>
          <a:custGeom>
            <a:avLst/>
            <a:gdLst/>
            <a:ahLst/>
            <a:cxnLst/>
            <a:rect r="r" b="b" t="t" l="l"/>
            <a:pathLst>
              <a:path h="3083664" w="3179035">
                <a:moveTo>
                  <a:pt x="0" y="0"/>
                </a:moveTo>
                <a:lnTo>
                  <a:pt x="3179034" y="0"/>
                </a:lnTo>
                <a:lnTo>
                  <a:pt x="3179034" y="3083664"/>
                </a:lnTo>
                <a:lnTo>
                  <a:pt x="0" y="30836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7423605" y="378492"/>
            <a:ext cx="715028" cy="650208"/>
          </a:xfrm>
          <a:custGeom>
            <a:avLst/>
            <a:gdLst/>
            <a:ahLst/>
            <a:cxnLst/>
            <a:rect r="r" b="b" t="t" l="l"/>
            <a:pathLst>
              <a:path h="650208" w="715028">
                <a:moveTo>
                  <a:pt x="0" y="0"/>
                </a:moveTo>
                <a:lnTo>
                  <a:pt x="715028" y="0"/>
                </a:lnTo>
                <a:lnTo>
                  <a:pt x="715028" y="650208"/>
                </a:lnTo>
                <a:lnTo>
                  <a:pt x="0" y="65020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6085" t="-100468" r="-186958" b="-11654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239191" y="3294015"/>
            <a:ext cx="11809618" cy="458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2499" indent="-261250" lvl="1">
              <a:lnSpc>
                <a:spcPts val="3630"/>
              </a:lnSpc>
              <a:buFont typeface="Arial"/>
              <a:buChar char="•"/>
            </a:pPr>
            <a:r>
              <a:rPr lang="en-US" sz="2420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SVM d</a:t>
            </a:r>
            <a:r>
              <a:rPr lang="en-US" sz="2420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an MLP berhasil digunakan untuk mendeteksi komentar promosi judi online pada YouTube berbahasa Indonesia dengan performa yang baik.</a:t>
            </a:r>
          </a:p>
          <a:p>
            <a:pPr algn="just" marL="522499" indent="-261250" lvl="1">
              <a:lnSpc>
                <a:spcPts val="3630"/>
              </a:lnSpc>
              <a:buFont typeface="Arial"/>
              <a:buChar char="•"/>
            </a:pPr>
            <a:r>
              <a:rPr lang="en-US" sz="2420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Adv</a:t>
            </a:r>
            <a:r>
              <a:rPr lang="en-US" sz="2420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anced Preprocessing memberikan hasil terbaik karena mampu menangani character obfuscation seperti Unicode stylized text dan variasi penulisan komentar judol.</a:t>
            </a:r>
          </a:p>
          <a:p>
            <a:pPr algn="just" marL="522499" indent="-261250" lvl="1">
              <a:lnSpc>
                <a:spcPts val="3630"/>
              </a:lnSpc>
              <a:buFont typeface="Arial"/>
              <a:buChar char="•"/>
            </a:pPr>
            <a:r>
              <a:rPr lang="en-US" sz="2420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Kombinasi terbaik diperoleh pada model SVM dengan Advanced Preprocessing dengan accuracy 97,83% dan F1-score 96,69%.</a:t>
            </a:r>
          </a:p>
          <a:p>
            <a:pPr algn="just" marL="522499" indent="-261250" lvl="1">
              <a:lnSpc>
                <a:spcPts val="3630"/>
              </a:lnSpc>
              <a:buFont typeface="Arial"/>
              <a:buChar char="•"/>
            </a:pPr>
            <a:r>
              <a:rPr lang="en-US" sz="2420" spc="-24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rPr>
              <a:t>Hasil penelitian menunjukkan bahwa normalisasi character obfuscation berpengaruh penting dalam meningkatkan performa deteksi komentar promosi judi online.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095389" y="1002191"/>
            <a:ext cx="8097222" cy="1144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9"/>
              </a:lnSpc>
            </a:pPr>
            <a:r>
              <a:rPr lang="en-US" b="true" sz="6799" spc="-271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Kesimpulan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9833809" y="3658622"/>
            <a:ext cx="3384782" cy="5286530"/>
          </a:xfrm>
          <a:custGeom>
            <a:avLst/>
            <a:gdLst/>
            <a:ahLst/>
            <a:cxnLst/>
            <a:rect r="r" b="b" t="t" l="l"/>
            <a:pathLst>
              <a:path h="5286530" w="3384782">
                <a:moveTo>
                  <a:pt x="0" y="0"/>
                </a:moveTo>
                <a:lnTo>
                  <a:pt x="3384782" y="0"/>
                </a:lnTo>
                <a:lnTo>
                  <a:pt x="3384782" y="5286531"/>
                </a:lnTo>
                <a:lnTo>
                  <a:pt x="0" y="5286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56185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3388309" y="4677545"/>
            <a:ext cx="3937084" cy="393708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9097" y="39097"/>
              <a:ext cx="734607" cy="734607"/>
            </a:xfrm>
            <a:custGeom>
              <a:avLst/>
              <a:gdLst/>
              <a:ahLst/>
              <a:cxnLst/>
              <a:rect r="r" b="b" t="t" l="l"/>
              <a:pathLst>
                <a:path h="734607" w="734607">
                  <a:moveTo>
                    <a:pt x="434045" y="27645"/>
                  </a:moveTo>
                  <a:lnTo>
                    <a:pt x="706961" y="300561"/>
                  </a:lnTo>
                  <a:cubicBezTo>
                    <a:pt x="743822" y="337422"/>
                    <a:pt x="743822" y="397184"/>
                    <a:pt x="706961" y="434045"/>
                  </a:cubicBezTo>
                  <a:lnTo>
                    <a:pt x="434045" y="706961"/>
                  </a:lnTo>
                  <a:cubicBezTo>
                    <a:pt x="397184" y="743822"/>
                    <a:pt x="337422" y="743822"/>
                    <a:pt x="300561" y="706961"/>
                  </a:cubicBezTo>
                  <a:lnTo>
                    <a:pt x="27645" y="434045"/>
                  </a:lnTo>
                  <a:cubicBezTo>
                    <a:pt x="-9216" y="397184"/>
                    <a:pt x="-9216" y="337422"/>
                    <a:pt x="27645" y="300561"/>
                  </a:cubicBezTo>
                  <a:lnTo>
                    <a:pt x="300561" y="27645"/>
                  </a:lnTo>
                  <a:cubicBezTo>
                    <a:pt x="337422" y="-9216"/>
                    <a:pt x="397184" y="-9216"/>
                    <a:pt x="434045" y="27645"/>
                  </a:cubicBezTo>
                  <a:close/>
                </a:path>
              </a:pathLst>
            </a:custGeom>
            <a:blipFill>
              <a:blip r:embed="rId5"/>
              <a:stretch>
                <a:fillRect l="-24906" t="0" r="-2490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51266" y="0"/>
            <a:ext cx="7202301" cy="6039093"/>
            <a:chOff x="0" y="0"/>
            <a:chExt cx="7633678" cy="6400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33684" cy="6400800"/>
            </a:xfrm>
            <a:custGeom>
              <a:avLst/>
              <a:gdLst/>
              <a:ahLst/>
              <a:cxnLst/>
              <a:rect r="r" b="b" t="t" l="l"/>
              <a:pathLst>
                <a:path h="6400800" w="7633684">
                  <a:moveTo>
                    <a:pt x="2415540" y="0"/>
                  </a:moveTo>
                  <a:lnTo>
                    <a:pt x="118872" y="2296414"/>
                  </a:lnTo>
                  <a:cubicBezTo>
                    <a:pt x="42164" y="2373249"/>
                    <a:pt x="2540" y="2473071"/>
                    <a:pt x="0" y="2573655"/>
                  </a:cubicBezTo>
                  <a:lnTo>
                    <a:pt x="0" y="2593975"/>
                  </a:lnTo>
                  <a:cubicBezTo>
                    <a:pt x="2540" y="2694559"/>
                    <a:pt x="42164" y="2794381"/>
                    <a:pt x="118872" y="2871089"/>
                  </a:cubicBezTo>
                  <a:lnTo>
                    <a:pt x="3529457" y="6281801"/>
                  </a:lnTo>
                  <a:cubicBezTo>
                    <a:pt x="3608832" y="6361176"/>
                    <a:pt x="3712845" y="6400800"/>
                    <a:pt x="3816858" y="6400800"/>
                  </a:cubicBezTo>
                  <a:cubicBezTo>
                    <a:pt x="3920871" y="6400800"/>
                    <a:pt x="4024884" y="6361176"/>
                    <a:pt x="4104132" y="6281801"/>
                  </a:cubicBezTo>
                  <a:lnTo>
                    <a:pt x="7514717" y="2871216"/>
                  </a:lnTo>
                  <a:cubicBezTo>
                    <a:pt x="7673340" y="2712593"/>
                    <a:pt x="7673340" y="2455291"/>
                    <a:pt x="7514717" y="2296541"/>
                  </a:cubicBezTo>
                  <a:lnTo>
                    <a:pt x="5218176" y="0"/>
                  </a:lnTo>
                  <a:close/>
                </a:path>
              </a:pathLst>
            </a:custGeom>
            <a:blipFill>
              <a:blip r:embed="rId6"/>
              <a:stretch>
                <a:fillRect l="-11653" t="0" r="-1165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5022707" y="7963037"/>
            <a:ext cx="4605373" cy="460551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80691"/>
                  </a:moveTo>
                  <a:lnTo>
                    <a:pt x="812800" y="732109"/>
                  </a:lnTo>
                  <a:cubicBezTo>
                    <a:pt x="812800" y="776673"/>
                    <a:pt x="776673" y="812800"/>
                    <a:pt x="732109" y="812800"/>
                  </a:cubicBezTo>
                  <a:lnTo>
                    <a:pt x="80691" y="812800"/>
                  </a:lnTo>
                  <a:cubicBezTo>
                    <a:pt x="36127" y="812800"/>
                    <a:pt x="0" y="776673"/>
                    <a:pt x="0" y="732109"/>
                  </a:cubicBezTo>
                  <a:lnTo>
                    <a:pt x="0" y="80691"/>
                  </a:lnTo>
                  <a:cubicBezTo>
                    <a:pt x="0" y="36127"/>
                    <a:pt x="36127" y="0"/>
                    <a:pt x="80691" y="0"/>
                  </a:cubicBezTo>
                  <a:lnTo>
                    <a:pt x="732109" y="0"/>
                  </a:lnTo>
                  <a:cubicBezTo>
                    <a:pt x="776673" y="0"/>
                    <a:pt x="812800" y="36127"/>
                    <a:pt x="812800" y="80691"/>
                  </a:cubicBezTo>
                  <a:close/>
                </a:path>
              </a:pathLst>
            </a:custGeom>
            <a:solidFill>
              <a:srgbClr val="39393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812800" cy="88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9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22968" y="3488647"/>
            <a:ext cx="8014787" cy="352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50"/>
              </a:lnSpc>
            </a:pPr>
            <a:r>
              <a:rPr lang="en-US" b="true" sz="11850" spc="-474">
                <a:solidFill>
                  <a:srgbClr val="000000"/>
                </a:solidFill>
                <a:latin typeface="Mont Bold"/>
                <a:ea typeface="Mont Bold"/>
                <a:cs typeface="Mont Bold"/>
                <a:sym typeface="Mont Bold"/>
              </a:rPr>
              <a:t>TERIMA KASIH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2968" y="2853210"/>
            <a:ext cx="4243811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 spc="-21">
                <a:solidFill>
                  <a:srgbClr val="393939"/>
                </a:solidFill>
                <a:latin typeface="Open Sans"/>
                <a:ea typeface="Open Sans"/>
                <a:cs typeface="Open Sans"/>
                <a:sym typeface="Open Sans"/>
              </a:rPr>
              <a:t>Program Studi Sains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DAHKFpB-9eM</dc:identifier>
  <dcterms:modified xsi:type="dcterms:W3CDTF">2011-08-01T06:04:30Z</dcterms:modified>
  <cp:revision>1</cp:revision>
  <dc:title>Hasil Data Cleaning dan Seleksi Data</dc:title>
</cp:coreProperties>
</file>